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(20s): "Every day in Southeast Asia, people send money to someone they do not fully trust, and just hope. PACTA turns that hope into something enforceable. It is a non-custodial wallet, and when a payment matters, you send it protected."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(40s): Money today moves on blind trust. Wallets move funds but offer zero protection. Platforms protect but take up to 20% and own your reputation. In a $35B market where two-thirds are underbanked and millions go offline daily, neither is enough.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SOLUTION (50s): PACTA is a normal wallet, hold/send/receive/convert on Stellar. The difference is one button, Send Protected, which creates a Pact, a Soroban escrow. Honest part: naive escrow is not safe because code cannot claw back money once sent. So we protect with the two enforceable mechanics: staged release and the recipient bond. Deliver and they earn it back; walk away and the sender reclaims funds plus the bond. Every Pact builds reputation the user owns.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WE WIN (40s): Three things. One, it is a money contract so we treated it like one: adversarial security review, found real bugs where a bond could be seized or stranded, fixed them, verified on mainnet. Two, non-custodial and the only trust play here, not privacy, not a gateway. Three, reputation users build is theirs, which is the moat. And we monetize fairly: a small fee on protected payments.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(30s): Tonight you have seen ways to move money privately, cheaply, and automatically. PACTA is the only one that makes it SAFE when you do not trust who you are paying, live on mainnet right now at getpacta.app. Trust, written in code.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pull up only if a technical judge asks. Emphasize: contract logic hand-reviewed and hardened; Risk Lens stats are deterministic in code, AI only translates.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backup: use for judge Q&amp;A. Blocs: Noether founders = rigor; Spartan/DWF = business &amp; moat; Stellar DevRel = adoption &amp; native execution.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512"/>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FBF87"/>
          </a:solidFill>
          <a:ln/>
        </p:spPr>
      </p:sp>
      <p:sp>
        <p:nvSpPr>
          <p:cNvPr id="3" name="Shape 1"/>
          <p:cNvSpPr/>
          <p:nvPr/>
        </p:nvSpPr>
        <p:spPr>
          <a:xfrm>
            <a:off x="548640" y="365760"/>
            <a:ext cx="310896" cy="310896"/>
          </a:xfrm>
          <a:prstGeom prst="roundRect">
            <a:avLst>
              <a:gd name="adj" fmla="val 17647"/>
            </a:avLst>
          </a:prstGeom>
          <a:solidFill>
            <a:srgbClr val="2FBF87"/>
          </a:solidFill>
          <a:ln/>
        </p:spPr>
      </p:sp>
      <p:sp>
        <p:nvSpPr>
          <p:cNvPr id="4" name="Text 2"/>
          <p:cNvSpPr/>
          <p:nvPr/>
        </p:nvSpPr>
        <p:spPr>
          <a:xfrm>
            <a:off x="548640" y="365760"/>
            <a:ext cx="310896" cy="310896"/>
          </a:xfrm>
          <a:prstGeom prst="rect">
            <a:avLst/>
          </a:prstGeom>
          <a:noFill/>
          <a:ln/>
        </p:spPr>
        <p:txBody>
          <a:bodyPr wrap="square" rtlCol="0" anchor="ctr"/>
          <a:lstStyle/>
          <a:p>
            <a:pPr algn="ctr" indent="0" marL="0">
              <a:buNone/>
            </a:pPr>
            <a:r>
              <a:rPr lang="en-US" sz="1500" b="1" dirty="0">
                <a:solidFill>
                  <a:srgbClr val="0B1512"/>
                </a:solidFill>
                <a:latin typeface="Arial" pitchFamily="34" charset="0"/>
                <a:ea typeface="Arial" pitchFamily="34" charset="-122"/>
                <a:cs typeface="Arial" pitchFamily="34" charset="-120"/>
              </a:rPr>
              <a:t>P</a:t>
            </a:r>
            <a:endParaRPr lang="en-US" sz="1500" dirty="0"/>
          </a:p>
        </p:txBody>
      </p:sp>
      <p:sp>
        <p:nvSpPr>
          <p:cNvPr id="5" name="Text 3"/>
          <p:cNvSpPr/>
          <p:nvPr/>
        </p:nvSpPr>
        <p:spPr>
          <a:xfrm>
            <a:off x="932688" y="365760"/>
            <a:ext cx="2743200" cy="310896"/>
          </a:xfrm>
          <a:prstGeom prst="rect">
            <a:avLst/>
          </a:prstGeom>
          <a:noFill/>
          <a:ln/>
        </p:spPr>
        <p:txBody>
          <a:bodyPr wrap="square" rtlCol="0" anchor="ctr"/>
          <a:lstStyle/>
          <a:p>
            <a:pPr indent="0" marL="0">
              <a:buNone/>
            </a:pPr>
            <a:r>
              <a:rPr lang="en-US" sz="1500" b="1" spc="200" kern="0" dirty="0">
                <a:solidFill>
                  <a:srgbClr val="FFFFFF"/>
                </a:solidFill>
                <a:latin typeface="Arial" pitchFamily="34" charset="0"/>
                <a:ea typeface="Arial" pitchFamily="34" charset="-122"/>
                <a:cs typeface="Arial" pitchFamily="34" charset="-120"/>
              </a:rPr>
              <a:t>PACTA</a:t>
            </a:r>
            <a:endParaRPr lang="en-US" sz="1500" dirty="0"/>
          </a:p>
        </p:txBody>
      </p:sp>
      <p:sp>
        <p:nvSpPr>
          <p:cNvPr id="6" name="Text 4"/>
          <p:cNvSpPr/>
          <p:nvPr/>
        </p:nvSpPr>
        <p:spPr>
          <a:xfrm>
            <a:off x="10271455" y="365760"/>
            <a:ext cx="1371600" cy="310896"/>
          </a:xfrm>
          <a:prstGeom prst="rect">
            <a:avLst/>
          </a:prstGeom>
          <a:noFill/>
          <a:ln/>
        </p:spPr>
        <p:txBody>
          <a:bodyPr wrap="square" rtlCol="0" anchor="ctr"/>
          <a:lstStyle/>
          <a:p>
            <a:pPr algn="r" indent="0" marL="0">
              <a:buNone/>
            </a:pPr>
            <a:r>
              <a:rPr lang="en-US" sz="1100" dirty="0">
                <a:solidFill>
                  <a:srgbClr val="A7B8B0"/>
                </a:solidFill>
                <a:latin typeface="Consolas" pitchFamily="34" charset="0"/>
                <a:ea typeface="Consolas" pitchFamily="34" charset="-122"/>
                <a:cs typeface="Consolas" pitchFamily="34" charset="-120"/>
              </a:rPr>
              <a:t>01 / 07</a:t>
            </a:r>
            <a:endParaRPr lang="en-US" sz="1100" dirty="0"/>
          </a:p>
        </p:txBody>
      </p:sp>
      <p:sp>
        <p:nvSpPr>
          <p:cNvPr id="7" name="Text 5"/>
          <p:cNvSpPr/>
          <p:nvPr/>
        </p:nvSpPr>
        <p:spPr>
          <a:xfrm>
            <a:off x="548640" y="6437376"/>
            <a:ext cx="8229600" cy="274320"/>
          </a:xfrm>
          <a:prstGeom prst="rect">
            <a:avLst/>
          </a:prstGeom>
          <a:noFill/>
          <a:ln/>
        </p:spPr>
        <p:txBody>
          <a:bodyPr wrap="square" rtlCol="0" anchor="ctr"/>
          <a:lstStyle/>
          <a:p>
            <a:pPr indent="0" marL="0">
              <a:buNone/>
            </a:pPr>
            <a:r>
              <a:rPr lang="en-US" sz="900" dirty="0">
                <a:solidFill>
                  <a:srgbClr val="A7B8B0"/>
                </a:solidFill>
                <a:latin typeface="Consolas" pitchFamily="34" charset="0"/>
                <a:ea typeface="Consolas" pitchFamily="34" charset="-122"/>
                <a:cs typeface="Consolas" pitchFamily="34" charset="-120"/>
              </a:rPr>
              <a:t>getpacta.app   ·   Trust, written in code.</a:t>
            </a:r>
            <a:endParaRPr lang="en-US" sz="900" dirty="0"/>
          </a:p>
        </p:txBody>
      </p:sp>
      <p:sp>
        <p:nvSpPr>
          <p:cNvPr id="8" name="Text 6"/>
          <p:cNvSpPr/>
          <p:nvPr/>
        </p:nvSpPr>
        <p:spPr>
          <a:xfrm>
            <a:off x="548640" y="1737360"/>
            <a:ext cx="10972800" cy="1188720"/>
          </a:xfrm>
          <a:prstGeom prst="rect">
            <a:avLst/>
          </a:prstGeom>
          <a:noFill/>
          <a:ln/>
        </p:spPr>
        <p:txBody>
          <a:bodyPr wrap="square" rtlCol="0" anchor="ctr"/>
          <a:lstStyle/>
          <a:p>
            <a:pPr indent="0" marL="0">
              <a:buNone/>
            </a:pPr>
            <a:r>
              <a:rPr lang="en-US" sz="6800" b="1" spc="1000" kern="0" dirty="0">
                <a:solidFill>
                  <a:srgbClr val="FFFFFF"/>
                </a:solidFill>
                <a:latin typeface="Arial" pitchFamily="34" charset="0"/>
                <a:ea typeface="Arial" pitchFamily="34" charset="-122"/>
                <a:cs typeface="Arial" pitchFamily="34" charset="-120"/>
              </a:rPr>
              <a:t>PACTA</a:t>
            </a:r>
            <a:endParaRPr lang="en-US" sz="6800" dirty="0"/>
          </a:p>
        </p:txBody>
      </p:sp>
      <p:sp>
        <p:nvSpPr>
          <p:cNvPr id="9" name="Text 7"/>
          <p:cNvSpPr/>
          <p:nvPr/>
        </p:nvSpPr>
        <p:spPr>
          <a:xfrm>
            <a:off x="603504" y="2880360"/>
            <a:ext cx="10972800" cy="457200"/>
          </a:xfrm>
          <a:prstGeom prst="rect">
            <a:avLst/>
          </a:prstGeom>
          <a:noFill/>
          <a:ln/>
        </p:spPr>
        <p:txBody>
          <a:bodyPr wrap="square" rtlCol="0" anchor="ctr"/>
          <a:lstStyle/>
          <a:p>
            <a:pPr indent="0" marL="0">
              <a:buNone/>
            </a:pPr>
            <a:r>
              <a:rPr lang="en-US" sz="1900" i="1" dirty="0">
                <a:solidFill>
                  <a:srgbClr val="2FBF87"/>
                </a:solidFill>
                <a:latin typeface="Arial" pitchFamily="34" charset="0"/>
                <a:ea typeface="Arial" pitchFamily="34" charset="-122"/>
                <a:cs typeface="Arial" pitchFamily="34" charset="-120"/>
              </a:rPr>
              <a:t>Trust, written in code.</a:t>
            </a:r>
            <a:endParaRPr lang="en-US" sz="1900" dirty="0"/>
          </a:p>
        </p:txBody>
      </p:sp>
      <p:sp>
        <p:nvSpPr>
          <p:cNvPr id="10" name="Text 8"/>
          <p:cNvSpPr/>
          <p:nvPr/>
        </p:nvSpPr>
        <p:spPr>
          <a:xfrm>
            <a:off x="548640" y="3566160"/>
            <a:ext cx="10972800" cy="640080"/>
          </a:xfrm>
          <a:prstGeom prst="rect">
            <a:avLst/>
          </a:prstGeom>
          <a:noFill/>
          <a:ln/>
        </p:spPr>
        <p:txBody>
          <a:bodyPr wrap="square" rtlCol="0" anchor="ctr"/>
          <a:lstStyle/>
          <a:p>
            <a:pPr indent="0" marL="0">
              <a:buNone/>
            </a:pPr>
            <a:r>
              <a:rPr lang="en-US" sz="2600" b="1" dirty="0">
                <a:solidFill>
                  <a:srgbClr val="FFFFFF"/>
                </a:solidFill>
                <a:latin typeface="Arial" pitchFamily="34" charset="0"/>
                <a:ea typeface="Arial" pitchFamily="34" charset="-122"/>
                <a:cs typeface="Arial" pitchFamily="34" charset="-120"/>
              </a:rPr>
              <a:t>Send money freely. Protect the payments that matter.</a:t>
            </a:r>
            <a:endParaRPr lang="en-US" sz="2600" dirty="0"/>
          </a:p>
        </p:txBody>
      </p:sp>
      <p:sp>
        <p:nvSpPr>
          <p:cNvPr id="11" name="Text 9"/>
          <p:cNvSpPr/>
          <p:nvPr/>
        </p:nvSpPr>
        <p:spPr>
          <a:xfrm>
            <a:off x="548640" y="4343400"/>
            <a:ext cx="9144000" cy="822960"/>
          </a:xfrm>
          <a:prstGeom prst="rect">
            <a:avLst/>
          </a:prstGeom>
          <a:noFill/>
          <a:ln/>
        </p:spPr>
        <p:txBody>
          <a:bodyPr wrap="square" rtlCol="0" anchor="ctr"/>
          <a:lstStyle/>
          <a:p>
            <a:pPr indent="0" marL="0">
              <a:lnSpc>
                <a:spcPct val="110000"/>
              </a:lnSpc>
              <a:buNone/>
            </a:pPr>
            <a:r>
              <a:rPr lang="en-US" sz="1400" dirty="0">
                <a:solidFill>
                  <a:srgbClr val="A7B8B0"/>
                </a:solidFill>
                <a:latin typeface="Arial" pitchFamily="34" charset="0"/>
                <a:ea typeface="Arial" pitchFamily="34" charset="-122"/>
                <a:cs typeface="Arial" pitchFamily="34" charset="-120"/>
              </a:rPr>
              <a:t>A non-custodial money app on Stellar: hold, send, receive, and convert. When a payment matters, send it Protected: a staged, bond-backed escrow, provable on-chain.</a:t>
            </a:r>
            <a:endParaRPr lang="en-US" sz="1400" dirty="0"/>
          </a:p>
        </p:txBody>
      </p:sp>
      <p:sp>
        <p:nvSpPr>
          <p:cNvPr id="12" name="Shape 10"/>
          <p:cNvSpPr/>
          <p:nvPr/>
        </p:nvSpPr>
        <p:spPr>
          <a:xfrm>
            <a:off x="548640" y="5349240"/>
            <a:ext cx="1550822" cy="384048"/>
          </a:xfrm>
          <a:prstGeom prst="roundRect">
            <a:avLst>
              <a:gd name="adj" fmla="val 50000"/>
            </a:avLst>
          </a:prstGeom>
          <a:solidFill>
            <a:srgbClr val="14281F"/>
          </a:solidFill>
          <a:ln w="12700">
            <a:solidFill>
              <a:srgbClr val="2FBF87"/>
            </a:solidFill>
            <a:prstDash val="solid"/>
          </a:ln>
        </p:spPr>
      </p:sp>
      <p:sp>
        <p:nvSpPr>
          <p:cNvPr id="13" name="Text 11"/>
          <p:cNvSpPr/>
          <p:nvPr/>
        </p:nvSpPr>
        <p:spPr>
          <a:xfrm>
            <a:off x="548640" y="5349240"/>
            <a:ext cx="1550822" cy="384048"/>
          </a:xfrm>
          <a:prstGeom prst="rect">
            <a:avLst/>
          </a:prstGeom>
          <a:noFill/>
          <a:ln/>
        </p:spPr>
        <p:txBody>
          <a:bodyPr wrap="square" rtlCol="0" anchor="ctr"/>
          <a:lstStyle/>
          <a:p>
            <a:pPr algn="ctr" indent="0" marL="0">
              <a:buNone/>
            </a:pPr>
            <a:r>
              <a:rPr lang="en-US" sz="1100" dirty="0">
                <a:solidFill>
                  <a:srgbClr val="34D399"/>
                </a:solidFill>
                <a:latin typeface="Consolas" pitchFamily="34" charset="0"/>
                <a:ea typeface="Consolas" pitchFamily="34" charset="-122"/>
                <a:cs typeface="Consolas" pitchFamily="34" charset="-120"/>
              </a:rPr>
              <a:t>Non-custodial</a:t>
            </a:r>
            <a:endParaRPr lang="en-US" sz="1100" dirty="0"/>
          </a:p>
        </p:txBody>
      </p:sp>
      <p:sp>
        <p:nvSpPr>
          <p:cNvPr id="14" name="Shape 12"/>
          <p:cNvSpPr/>
          <p:nvPr/>
        </p:nvSpPr>
        <p:spPr>
          <a:xfrm>
            <a:off x="2300630" y="5349240"/>
            <a:ext cx="1719072" cy="384048"/>
          </a:xfrm>
          <a:prstGeom prst="roundRect">
            <a:avLst>
              <a:gd name="adj" fmla="val 50000"/>
            </a:avLst>
          </a:prstGeom>
          <a:solidFill>
            <a:srgbClr val="14281F"/>
          </a:solidFill>
          <a:ln w="12700">
            <a:solidFill>
              <a:srgbClr val="2FBF87"/>
            </a:solidFill>
            <a:prstDash val="solid"/>
          </a:ln>
        </p:spPr>
      </p:sp>
      <p:sp>
        <p:nvSpPr>
          <p:cNvPr id="15" name="Text 13"/>
          <p:cNvSpPr/>
          <p:nvPr/>
        </p:nvSpPr>
        <p:spPr>
          <a:xfrm>
            <a:off x="2300630" y="5349240"/>
            <a:ext cx="1719072" cy="384048"/>
          </a:xfrm>
          <a:prstGeom prst="rect">
            <a:avLst/>
          </a:prstGeom>
          <a:noFill/>
          <a:ln/>
        </p:spPr>
        <p:txBody>
          <a:bodyPr wrap="square" rtlCol="0" anchor="ctr"/>
          <a:lstStyle/>
          <a:p>
            <a:pPr algn="ctr" indent="0" marL="0">
              <a:buNone/>
            </a:pPr>
            <a:r>
              <a:rPr lang="en-US" sz="1100" dirty="0">
                <a:solidFill>
                  <a:srgbClr val="34D399"/>
                </a:solidFill>
                <a:latin typeface="Consolas" pitchFamily="34" charset="0"/>
                <a:ea typeface="Consolas" pitchFamily="34" charset="-122"/>
                <a:cs typeface="Consolas" pitchFamily="34" charset="-120"/>
              </a:rPr>
              <a:t>Live on Mainnet</a:t>
            </a:r>
            <a:endParaRPr lang="en-US" sz="1100" dirty="0"/>
          </a:p>
        </p:txBody>
      </p:sp>
      <p:sp>
        <p:nvSpPr>
          <p:cNvPr id="16" name="Shape 14"/>
          <p:cNvSpPr/>
          <p:nvPr/>
        </p:nvSpPr>
        <p:spPr>
          <a:xfrm>
            <a:off x="4220870" y="5349240"/>
            <a:ext cx="1887322" cy="384048"/>
          </a:xfrm>
          <a:prstGeom prst="roundRect">
            <a:avLst>
              <a:gd name="adj" fmla="val 50000"/>
            </a:avLst>
          </a:prstGeom>
          <a:solidFill>
            <a:srgbClr val="14281F"/>
          </a:solidFill>
          <a:ln w="12700">
            <a:solidFill>
              <a:srgbClr val="2FBF87"/>
            </a:solidFill>
            <a:prstDash val="solid"/>
          </a:ln>
        </p:spPr>
      </p:sp>
      <p:sp>
        <p:nvSpPr>
          <p:cNvPr id="17" name="Text 15"/>
          <p:cNvSpPr/>
          <p:nvPr/>
        </p:nvSpPr>
        <p:spPr>
          <a:xfrm>
            <a:off x="4220870" y="5349240"/>
            <a:ext cx="1887322" cy="384048"/>
          </a:xfrm>
          <a:prstGeom prst="rect">
            <a:avLst/>
          </a:prstGeom>
          <a:noFill/>
          <a:ln/>
        </p:spPr>
        <p:txBody>
          <a:bodyPr wrap="square" rtlCol="0" anchor="ctr"/>
          <a:lstStyle/>
          <a:p>
            <a:pPr algn="ctr" indent="0" marL="0">
              <a:buNone/>
            </a:pPr>
            <a:r>
              <a:rPr lang="en-US" sz="1100" dirty="0">
                <a:solidFill>
                  <a:srgbClr val="34D399"/>
                </a:solidFill>
                <a:latin typeface="Consolas" pitchFamily="34" charset="0"/>
                <a:ea typeface="Consolas" pitchFamily="34" charset="-122"/>
                <a:cs typeface="Consolas" pitchFamily="34" charset="-120"/>
              </a:rPr>
              <a:t>Provable on-chain</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512"/>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FBF87"/>
          </a:solidFill>
          <a:ln/>
        </p:spPr>
      </p:sp>
      <p:sp>
        <p:nvSpPr>
          <p:cNvPr id="3" name="Shape 1"/>
          <p:cNvSpPr/>
          <p:nvPr/>
        </p:nvSpPr>
        <p:spPr>
          <a:xfrm>
            <a:off x="548640" y="365760"/>
            <a:ext cx="310896" cy="310896"/>
          </a:xfrm>
          <a:prstGeom prst="roundRect">
            <a:avLst>
              <a:gd name="adj" fmla="val 17647"/>
            </a:avLst>
          </a:prstGeom>
          <a:solidFill>
            <a:srgbClr val="2FBF87"/>
          </a:solidFill>
          <a:ln/>
        </p:spPr>
      </p:sp>
      <p:sp>
        <p:nvSpPr>
          <p:cNvPr id="4" name="Text 2"/>
          <p:cNvSpPr/>
          <p:nvPr/>
        </p:nvSpPr>
        <p:spPr>
          <a:xfrm>
            <a:off x="548640" y="365760"/>
            <a:ext cx="310896" cy="310896"/>
          </a:xfrm>
          <a:prstGeom prst="rect">
            <a:avLst/>
          </a:prstGeom>
          <a:noFill/>
          <a:ln/>
        </p:spPr>
        <p:txBody>
          <a:bodyPr wrap="square" rtlCol="0" anchor="ctr"/>
          <a:lstStyle/>
          <a:p>
            <a:pPr algn="ctr" indent="0" marL="0">
              <a:buNone/>
            </a:pPr>
            <a:r>
              <a:rPr lang="en-US" sz="1500" b="1" dirty="0">
                <a:solidFill>
                  <a:srgbClr val="0B1512"/>
                </a:solidFill>
                <a:latin typeface="Arial" pitchFamily="34" charset="0"/>
                <a:ea typeface="Arial" pitchFamily="34" charset="-122"/>
                <a:cs typeface="Arial" pitchFamily="34" charset="-120"/>
              </a:rPr>
              <a:t>P</a:t>
            </a:r>
            <a:endParaRPr lang="en-US" sz="1500" dirty="0"/>
          </a:p>
        </p:txBody>
      </p:sp>
      <p:sp>
        <p:nvSpPr>
          <p:cNvPr id="5" name="Text 3"/>
          <p:cNvSpPr/>
          <p:nvPr/>
        </p:nvSpPr>
        <p:spPr>
          <a:xfrm>
            <a:off x="932688" y="365760"/>
            <a:ext cx="2743200" cy="310896"/>
          </a:xfrm>
          <a:prstGeom prst="rect">
            <a:avLst/>
          </a:prstGeom>
          <a:noFill/>
          <a:ln/>
        </p:spPr>
        <p:txBody>
          <a:bodyPr wrap="square" rtlCol="0" anchor="ctr"/>
          <a:lstStyle/>
          <a:p>
            <a:pPr indent="0" marL="0">
              <a:buNone/>
            </a:pPr>
            <a:r>
              <a:rPr lang="en-US" sz="1500" b="1" spc="200" kern="0" dirty="0">
                <a:solidFill>
                  <a:srgbClr val="FFFFFF"/>
                </a:solidFill>
                <a:latin typeface="Arial" pitchFamily="34" charset="0"/>
                <a:ea typeface="Arial" pitchFamily="34" charset="-122"/>
                <a:cs typeface="Arial" pitchFamily="34" charset="-120"/>
              </a:rPr>
              <a:t>PACTA</a:t>
            </a:r>
            <a:endParaRPr lang="en-US" sz="1500" dirty="0"/>
          </a:p>
        </p:txBody>
      </p:sp>
      <p:sp>
        <p:nvSpPr>
          <p:cNvPr id="6" name="Text 4"/>
          <p:cNvSpPr/>
          <p:nvPr/>
        </p:nvSpPr>
        <p:spPr>
          <a:xfrm>
            <a:off x="10271455" y="365760"/>
            <a:ext cx="1371600" cy="310896"/>
          </a:xfrm>
          <a:prstGeom prst="rect">
            <a:avLst/>
          </a:prstGeom>
          <a:noFill/>
          <a:ln/>
        </p:spPr>
        <p:txBody>
          <a:bodyPr wrap="square" rtlCol="0" anchor="ctr"/>
          <a:lstStyle/>
          <a:p>
            <a:pPr algn="r" indent="0" marL="0">
              <a:buNone/>
            </a:pPr>
            <a:r>
              <a:rPr lang="en-US" sz="1100" dirty="0">
                <a:solidFill>
                  <a:srgbClr val="A7B8B0"/>
                </a:solidFill>
                <a:latin typeface="Consolas" pitchFamily="34" charset="0"/>
                <a:ea typeface="Consolas" pitchFamily="34" charset="-122"/>
                <a:cs typeface="Consolas" pitchFamily="34" charset="-120"/>
              </a:rPr>
              <a:t>02 / 07</a:t>
            </a:r>
            <a:endParaRPr lang="en-US" sz="1100" dirty="0"/>
          </a:p>
        </p:txBody>
      </p:sp>
      <p:sp>
        <p:nvSpPr>
          <p:cNvPr id="7" name="Text 5"/>
          <p:cNvSpPr/>
          <p:nvPr/>
        </p:nvSpPr>
        <p:spPr>
          <a:xfrm>
            <a:off x="548640" y="6437376"/>
            <a:ext cx="8229600" cy="274320"/>
          </a:xfrm>
          <a:prstGeom prst="rect">
            <a:avLst/>
          </a:prstGeom>
          <a:noFill/>
          <a:ln/>
        </p:spPr>
        <p:txBody>
          <a:bodyPr wrap="square" rtlCol="0" anchor="ctr"/>
          <a:lstStyle/>
          <a:p>
            <a:pPr indent="0" marL="0">
              <a:buNone/>
            </a:pPr>
            <a:r>
              <a:rPr lang="en-US" sz="900" dirty="0">
                <a:solidFill>
                  <a:srgbClr val="A7B8B0"/>
                </a:solidFill>
                <a:latin typeface="Consolas" pitchFamily="34" charset="0"/>
                <a:ea typeface="Consolas" pitchFamily="34" charset="-122"/>
                <a:cs typeface="Consolas" pitchFamily="34" charset="-120"/>
              </a:rPr>
              <a:t>getpacta.app   ·   Trust, written in code.</a:t>
            </a:r>
            <a:endParaRPr lang="en-US" sz="900" dirty="0"/>
          </a:p>
        </p:txBody>
      </p:sp>
      <p:sp>
        <p:nvSpPr>
          <p:cNvPr id="8" name="Text 6"/>
          <p:cNvSpPr/>
          <p:nvPr/>
        </p:nvSpPr>
        <p:spPr>
          <a:xfrm>
            <a:off x="548640" y="868680"/>
            <a:ext cx="11064240" cy="548640"/>
          </a:xfrm>
          <a:prstGeom prst="rect">
            <a:avLst/>
          </a:prstGeom>
          <a:noFill/>
          <a:ln/>
        </p:spPr>
        <p:txBody>
          <a:bodyPr wrap="square" rtlCol="0" anchor="ctr"/>
          <a:lstStyle/>
          <a:p>
            <a:pPr indent="0" marL="0">
              <a:buNone/>
            </a:pPr>
            <a:r>
              <a:rPr lang="en-US" sz="2600" b="1" dirty="0">
                <a:solidFill>
                  <a:srgbClr val="FFFFFF"/>
                </a:solidFill>
                <a:latin typeface="Arial" pitchFamily="34" charset="0"/>
                <a:ea typeface="Arial" pitchFamily="34" charset="-122"/>
                <a:cs typeface="Arial" pitchFamily="34" charset="-120"/>
              </a:rPr>
              <a:t>The Problem: Money Moves on Blind Trust</a:t>
            </a:r>
            <a:endParaRPr lang="en-US" sz="2600" dirty="0"/>
          </a:p>
        </p:txBody>
      </p:sp>
      <p:sp>
        <p:nvSpPr>
          <p:cNvPr id="9" name="Shape 7"/>
          <p:cNvSpPr/>
          <p:nvPr/>
        </p:nvSpPr>
        <p:spPr>
          <a:xfrm>
            <a:off x="566928" y="1417320"/>
            <a:ext cx="822960" cy="41148"/>
          </a:xfrm>
          <a:prstGeom prst="rect">
            <a:avLst/>
          </a:prstGeom>
          <a:solidFill>
            <a:srgbClr val="2FBF87"/>
          </a:solidFill>
          <a:ln/>
        </p:spPr>
      </p:sp>
      <p:sp>
        <p:nvSpPr>
          <p:cNvPr id="10" name="Shape 8"/>
          <p:cNvSpPr/>
          <p:nvPr/>
        </p:nvSpPr>
        <p:spPr>
          <a:xfrm>
            <a:off x="548640" y="1691640"/>
            <a:ext cx="5623560" cy="1371600"/>
          </a:xfrm>
          <a:prstGeom prst="roundRect">
            <a:avLst>
              <a:gd name="adj" fmla="val 5333"/>
            </a:avLst>
          </a:prstGeom>
          <a:solidFill>
            <a:srgbClr val="11211A"/>
          </a:solidFill>
          <a:ln w="12700">
            <a:solidFill>
              <a:srgbClr val="2FBF87"/>
            </a:solidFill>
            <a:prstDash val="solid"/>
          </a:ln>
        </p:spPr>
      </p:sp>
      <p:sp>
        <p:nvSpPr>
          <p:cNvPr id="11" name="Text 9"/>
          <p:cNvSpPr/>
          <p:nvPr/>
        </p:nvSpPr>
        <p:spPr>
          <a:xfrm>
            <a:off x="749808" y="1810512"/>
            <a:ext cx="5257800" cy="868680"/>
          </a:xfrm>
          <a:prstGeom prst="rect">
            <a:avLst/>
          </a:prstGeom>
          <a:noFill/>
          <a:ln/>
        </p:spPr>
        <p:txBody>
          <a:bodyPr wrap="square" rtlCol="0" anchor="ctr"/>
          <a:lstStyle/>
          <a:p>
            <a:pPr indent="0" marL="0">
              <a:lnSpc>
                <a:spcPct val="105000"/>
              </a:lnSpc>
              <a:buNone/>
            </a:pPr>
            <a:r>
              <a:rPr lang="en-US" sz="1400" i="1" dirty="0">
                <a:solidFill>
                  <a:srgbClr val="FFFFFF"/>
                </a:solidFill>
                <a:latin typeface="Arial" pitchFamily="34" charset="0"/>
                <a:ea typeface="Arial" pitchFamily="34" charset="-122"/>
                <a:cs typeface="Arial" pitchFamily="34" charset="-120"/>
              </a:rPr>
              <a:t>"Marco paid P10,000 upfront for a logo. Three days later, the designer vanished. No work, no refund."</a:t>
            </a:r>
            <a:endParaRPr lang="en-US" sz="1400" dirty="0"/>
          </a:p>
        </p:txBody>
      </p:sp>
      <p:sp>
        <p:nvSpPr>
          <p:cNvPr id="12" name="Text 10"/>
          <p:cNvSpPr/>
          <p:nvPr/>
        </p:nvSpPr>
        <p:spPr>
          <a:xfrm>
            <a:off x="749808" y="2670048"/>
            <a:ext cx="5257800" cy="320040"/>
          </a:xfrm>
          <a:prstGeom prst="rect">
            <a:avLst/>
          </a:prstGeom>
          <a:noFill/>
          <a:ln/>
        </p:spPr>
        <p:txBody>
          <a:bodyPr wrap="square" rtlCol="0" anchor="ctr"/>
          <a:lstStyle/>
          <a:p>
            <a:pPr indent="0" marL="0">
              <a:buNone/>
            </a:pPr>
            <a:r>
              <a:rPr lang="en-US" sz="1100" dirty="0">
                <a:solidFill>
                  <a:srgbClr val="A7B8B0"/>
                </a:solidFill>
                <a:latin typeface="Arial" pitchFamily="34" charset="0"/>
                <a:ea typeface="Arial" pitchFamily="34" charset="-122"/>
                <a:cs typeface="Arial" pitchFamily="34" charset="-120"/>
              </a:rPr>
              <a:t>millions of freelancers and buyers face this daily in SEA</a:t>
            </a:r>
            <a:endParaRPr lang="en-US" sz="1100" dirty="0"/>
          </a:p>
        </p:txBody>
      </p:sp>
      <p:sp>
        <p:nvSpPr>
          <p:cNvPr id="13" name="Shape 11"/>
          <p:cNvSpPr/>
          <p:nvPr/>
        </p:nvSpPr>
        <p:spPr>
          <a:xfrm>
            <a:off x="548640" y="3246120"/>
            <a:ext cx="5623560" cy="2240280"/>
          </a:xfrm>
          <a:prstGeom prst="roundRect">
            <a:avLst>
              <a:gd name="adj" fmla="val 3265"/>
            </a:avLst>
          </a:prstGeom>
          <a:solidFill>
            <a:srgbClr val="11211A"/>
          </a:solidFill>
          <a:ln w="12700">
            <a:solidFill>
              <a:srgbClr val="20402F"/>
            </a:solidFill>
            <a:prstDash val="solid"/>
          </a:ln>
        </p:spPr>
      </p:sp>
      <p:sp>
        <p:nvSpPr>
          <p:cNvPr id="14" name="Text 12"/>
          <p:cNvSpPr/>
          <p:nvPr/>
        </p:nvSpPr>
        <p:spPr>
          <a:xfrm>
            <a:off x="749808" y="3429000"/>
            <a:ext cx="5257800" cy="1874520"/>
          </a:xfrm>
          <a:prstGeom prst="rect">
            <a:avLst/>
          </a:prstGeom>
          <a:noFill/>
          <a:ln/>
        </p:spPr>
        <p:txBody>
          <a:bodyPr wrap="square" rtlCol="0" anchor="t"/>
          <a:lstStyle/>
          <a:p>
            <a:pPr marL="177800" indent="-177800">
              <a:spcAft>
                <a:spcPts val="800"/>
              </a:spcAft>
              <a:buSzPct val="100000"/>
              <a:buChar char="•"/>
            </a:pPr>
            <a:r>
              <a:rPr lang="en-US" sz="1200" dirty="0">
                <a:solidFill>
                  <a:srgbClr val="A7B8B0"/>
                </a:solidFill>
                <a:latin typeface="Arial" pitchFamily="34" charset="0"/>
                <a:ea typeface="Arial" pitchFamily="34" charset="-122"/>
                <a:cs typeface="Arial" pitchFamily="34" charset="-120"/>
              </a:rPr>
              <a:t>Pay &amp; pray: direct transfers leave buyers unprotected the moment funds leave the wallet.</a:t>
            </a:r>
            <a:endParaRPr lang="en-US" sz="1200" dirty="0"/>
          </a:p>
          <a:p>
            <a:pPr marL="177800" indent="-177800">
              <a:spcAft>
                <a:spcPts val="800"/>
              </a:spcAft>
              <a:buSzPct val="100000"/>
              <a:buChar char="•"/>
            </a:pPr>
            <a:r>
              <a:rPr lang="en-US" sz="1200" dirty="0">
                <a:solidFill>
                  <a:srgbClr val="A7B8B0"/>
                </a:solidFill>
                <a:latin typeface="Arial" pitchFamily="34" charset="0"/>
                <a:ea typeface="Arial" pitchFamily="34" charset="-122"/>
                <a:cs typeface="Arial" pitchFamily="34" charset="-120"/>
              </a:rPr>
              <a:t>Platforms own your trust: Upwork/Fiverr take 10-20% and keep your reputation; PayPal protection does not cover most PH service deals.</a:t>
            </a:r>
            <a:endParaRPr lang="en-US" sz="1200" dirty="0"/>
          </a:p>
          <a:p>
            <a:pPr marL="177800" indent="-177800">
              <a:spcAft>
                <a:spcPts val="800"/>
              </a:spcAft>
              <a:buSzPct val="100000"/>
              <a:buChar char="•"/>
            </a:pPr>
            <a:r>
              <a:rPr lang="en-US" sz="1200" dirty="0">
                <a:solidFill>
                  <a:srgbClr val="A7B8B0"/>
                </a:solidFill>
                <a:latin typeface="Arial" pitchFamily="34" charset="0"/>
                <a:ea typeface="Arial" pitchFamily="34" charset="-122"/>
                <a:cs typeface="Arial" pitchFamily="34" charset="-120"/>
              </a:rPr>
              <a:t>Connectivity drops: signal loss in emerging markets strands payments mid-flow.</a:t>
            </a:r>
            <a:endParaRPr lang="en-US" sz="1200" dirty="0"/>
          </a:p>
        </p:txBody>
      </p:sp>
      <p:sp>
        <p:nvSpPr>
          <p:cNvPr id="15" name="Shape 13"/>
          <p:cNvSpPr/>
          <p:nvPr/>
        </p:nvSpPr>
        <p:spPr>
          <a:xfrm>
            <a:off x="6446520" y="1691640"/>
            <a:ext cx="2697480" cy="1508760"/>
          </a:xfrm>
          <a:prstGeom prst="roundRect">
            <a:avLst>
              <a:gd name="adj" fmla="val 4848"/>
            </a:avLst>
          </a:prstGeom>
          <a:solidFill>
            <a:srgbClr val="11211A"/>
          </a:solidFill>
          <a:ln w="12700">
            <a:solidFill>
              <a:srgbClr val="20402F"/>
            </a:solidFill>
            <a:prstDash val="solid"/>
          </a:ln>
        </p:spPr>
      </p:sp>
      <p:sp>
        <p:nvSpPr>
          <p:cNvPr id="16" name="Text 14"/>
          <p:cNvSpPr/>
          <p:nvPr/>
        </p:nvSpPr>
        <p:spPr>
          <a:xfrm>
            <a:off x="6647688" y="1837944"/>
            <a:ext cx="2295144" cy="640080"/>
          </a:xfrm>
          <a:prstGeom prst="rect">
            <a:avLst/>
          </a:prstGeom>
          <a:noFill/>
          <a:ln/>
        </p:spPr>
        <p:txBody>
          <a:bodyPr wrap="square" rtlCol="0" anchor="ctr"/>
          <a:lstStyle/>
          <a:p>
            <a:pPr indent="0" marL="0">
              <a:buNone/>
            </a:pPr>
            <a:r>
              <a:rPr lang="en-US" sz="3000" b="1" dirty="0">
                <a:solidFill>
                  <a:srgbClr val="34D399"/>
                </a:solidFill>
                <a:latin typeface="Consolas" pitchFamily="34" charset="0"/>
                <a:ea typeface="Consolas" pitchFamily="34" charset="-122"/>
                <a:cs typeface="Consolas" pitchFamily="34" charset="-120"/>
              </a:rPr>
              <a:t>$35.6B</a:t>
            </a:r>
            <a:endParaRPr lang="en-US" sz="3000" dirty="0"/>
          </a:p>
        </p:txBody>
      </p:sp>
      <p:sp>
        <p:nvSpPr>
          <p:cNvPr id="17" name="Text 15"/>
          <p:cNvSpPr/>
          <p:nvPr/>
        </p:nvSpPr>
        <p:spPr>
          <a:xfrm>
            <a:off x="6647688" y="2532888"/>
            <a:ext cx="2295144" cy="502920"/>
          </a:xfrm>
          <a:prstGeom prst="rect">
            <a:avLst/>
          </a:prstGeom>
          <a:noFill/>
          <a:ln/>
        </p:spPr>
        <p:txBody>
          <a:bodyPr wrap="square" rtlCol="0" anchor="t"/>
          <a:lstStyle/>
          <a:p>
            <a:pPr indent="0" marL="0">
              <a:buNone/>
            </a:pPr>
            <a:r>
              <a:rPr lang="en-US" sz="1050" dirty="0">
                <a:solidFill>
                  <a:srgbClr val="A7B8B0"/>
                </a:solidFill>
                <a:latin typeface="Arial" pitchFamily="34" charset="0"/>
                <a:ea typeface="Arial" pitchFamily="34" charset="-122"/>
                <a:cs typeface="Arial" pitchFamily="34" charset="-120"/>
              </a:rPr>
              <a:t>PH remittance &amp; services market</a:t>
            </a:r>
            <a:endParaRPr lang="en-US" sz="1050" dirty="0"/>
          </a:p>
        </p:txBody>
      </p:sp>
      <p:sp>
        <p:nvSpPr>
          <p:cNvPr id="18" name="Shape 16"/>
          <p:cNvSpPr/>
          <p:nvPr/>
        </p:nvSpPr>
        <p:spPr>
          <a:xfrm>
            <a:off x="9308592" y="1691640"/>
            <a:ext cx="2697480" cy="1508760"/>
          </a:xfrm>
          <a:prstGeom prst="roundRect">
            <a:avLst>
              <a:gd name="adj" fmla="val 4848"/>
            </a:avLst>
          </a:prstGeom>
          <a:solidFill>
            <a:srgbClr val="11211A"/>
          </a:solidFill>
          <a:ln w="12700">
            <a:solidFill>
              <a:srgbClr val="20402F"/>
            </a:solidFill>
            <a:prstDash val="solid"/>
          </a:ln>
        </p:spPr>
      </p:sp>
      <p:sp>
        <p:nvSpPr>
          <p:cNvPr id="19" name="Text 17"/>
          <p:cNvSpPr/>
          <p:nvPr/>
        </p:nvSpPr>
        <p:spPr>
          <a:xfrm>
            <a:off x="9509760" y="1837944"/>
            <a:ext cx="2295144" cy="640080"/>
          </a:xfrm>
          <a:prstGeom prst="rect">
            <a:avLst/>
          </a:prstGeom>
          <a:noFill/>
          <a:ln/>
        </p:spPr>
        <p:txBody>
          <a:bodyPr wrap="square" rtlCol="0" anchor="ctr"/>
          <a:lstStyle/>
          <a:p>
            <a:pPr indent="0" marL="0">
              <a:buNone/>
            </a:pPr>
            <a:r>
              <a:rPr lang="en-US" sz="3000" b="1" dirty="0">
                <a:solidFill>
                  <a:srgbClr val="34D399"/>
                </a:solidFill>
                <a:latin typeface="Consolas" pitchFamily="34" charset="0"/>
                <a:ea typeface="Consolas" pitchFamily="34" charset="-122"/>
                <a:cs typeface="Consolas" pitchFamily="34" charset="-120"/>
              </a:rPr>
              <a:t>6.36%</a:t>
            </a:r>
            <a:endParaRPr lang="en-US" sz="3000" dirty="0"/>
          </a:p>
        </p:txBody>
      </p:sp>
      <p:sp>
        <p:nvSpPr>
          <p:cNvPr id="20" name="Text 18"/>
          <p:cNvSpPr/>
          <p:nvPr/>
        </p:nvSpPr>
        <p:spPr>
          <a:xfrm>
            <a:off x="9509760" y="2532888"/>
            <a:ext cx="2295144" cy="502920"/>
          </a:xfrm>
          <a:prstGeom prst="rect">
            <a:avLst/>
          </a:prstGeom>
          <a:noFill/>
          <a:ln/>
        </p:spPr>
        <p:txBody>
          <a:bodyPr wrap="square" rtlCol="0" anchor="t"/>
          <a:lstStyle/>
          <a:p>
            <a:pPr indent="0" marL="0">
              <a:buNone/>
            </a:pPr>
            <a:r>
              <a:rPr lang="en-US" sz="1050" dirty="0">
                <a:solidFill>
                  <a:srgbClr val="A7B8B0"/>
                </a:solidFill>
                <a:latin typeface="Arial" pitchFamily="34" charset="0"/>
                <a:ea typeface="Arial" pitchFamily="34" charset="-122"/>
                <a:cs typeface="Arial" pitchFamily="34" charset="-120"/>
              </a:rPr>
              <a:t>avg fee to send $200 home</a:t>
            </a:r>
            <a:endParaRPr lang="en-US" sz="1050" dirty="0"/>
          </a:p>
        </p:txBody>
      </p:sp>
      <p:sp>
        <p:nvSpPr>
          <p:cNvPr id="21" name="Shape 19"/>
          <p:cNvSpPr/>
          <p:nvPr/>
        </p:nvSpPr>
        <p:spPr>
          <a:xfrm>
            <a:off x="6446520" y="3383280"/>
            <a:ext cx="2697480" cy="1508760"/>
          </a:xfrm>
          <a:prstGeom prst="roundRect">
            <a:avLst>
              <a:gd name="adj" fmla="val 4848"/>
            </a:avLst>
          </a:prstGeom>
          <a:solidFill>
            <a:srgbClr val="11211A"/>
          </a:solidFill>
          <a:ln w="12700">
            <a:solidFill>
              <a:srgbClr val="20402F"/>
            </a:solidFill>
            <a:prstDash val="solid"/>
          </a:ln>
        </p:spPr>
      </p:sp>
      <p:sp>
        <p:nvSpPr>
          <p:cNvPr id="22" name="Text 20"/>
          <p:cNvSpPr/>
          <p:nvPr/>
        </p:nvSpPr>
        <p:spPr>
          <a:xfrm>
            <a:off x="6647688" y="3529584"/>
            <a:ext cx="2295144" cy="640080"/>
          </a:xfrm>
          <a:prstGeom prst="rect">
            <a:avLst/>
          </a:prstGeom>
          <a:noFill/>
          <a:ln/>
        </p:spPr>
        <p:txBody>
          <a:bodyPr wrap="square" rtlCol="0" anchor="ctr"/>
          <a:lstStyle/>
          <a:p>
            <a:pPr indent="0" marL="0">
              <a:buNone/>
            </a:pPr>
            <a:r>
              <a:rPr lang="en-US" sz="3000" b="1" dirty="0">
                <a:solidFill>
                  <a:srgbClr val="34D399"/>
                </a:solidFill>
                <a:latin typeface="Consolas" pitchFamily="34" charset="0"/>
                <a:ea typeface="Consolas" pitchFamily="34" charset="-122"/>
                <a:cs typeface="Consolas" pitchFamily="34" charset="-120"/>
              </a:rPr>
              <a:t>66%</a:t>
            </a:r>
            <a:endParaRPr lang="en-US" sz="3000" dirty="0"/>
          </a:p>
        </p:txBody>
      </p:sp>
      <p:sp>
        <p:nvSpPr>
          <p:cNvPr id="23" name="Text 21"/>
          <p:cNvSpPr/>
          <p:nvPr/>
        </p:nvSpPr>
        <p:spPr>
          <a:xfrm>
            <a:off x="6647688" y="4224528"/>
            <a:ext cx="2295144" cy="502920"/>
          </a:xfrm>
          <a:prstGeom prst="rect">
            <a:avLst/>
          </a:prstGeom>
          <a:noFill/>
          <a:ln/>
        </p:spPr>
        <p:txBody>
          <a:bodyPr wrap="square" rtlCol="0" anchor="t"/>
          <a:lstStyle/>
          <a:p>
            <a:pPr indent="0" marL="0">
              <a:buNone/>
            </a:pPr>
            <a:r>
              <a:rPr lang="en-US" sz="1050" dirty="0">
                <a:solidFill>
                  <a:srgbClr val="A7B8B0"/>
                </a:solidFill>
                <a:latin typeface="Arial" pitchFamily="34" charset="0"/>
                <a:ea typeface="Arial" pitchFamily="34" charset="-122"/>
                <a:cs typeface="Arial" pitchFamily="34" charset="-120"/>
              </a:rPr>
              <a:t>underserved by banks</a:t>
            </a:r>
            <a:endParaRPr lang="en-US" sz="1050" dirty="0"/>
          </a:p>
        </p:txBody>
      </p:sp>
      <p:sp>
        <p:nvSpPr>
          <p:cNvPr id="24" name="Shape 22"/>
          <p:cNvSpPr/>
          <p:nvPr/>
        </p:nvSpPr>
        <p:spPr>
          <a:xfrm>
            <a:off x="9308592" y="3383280"/>
            <a:ext cx="2697480" cy="1508760"/>
          </a:xfrm>
          <a:prstGeom prst="roundRect">
            <a:avLst>
              <a:gd name="adj" fmla="val 4848"/>
            </a:avLst>
          </a:prstGeom>
          <a:solidFill>
            <a:srgbClr val="11211A"/>
          </a:solidFill>
          <a:ln w="12700">
            <a:solidFill>
              <a:srgbClr val="20402F"/>
            </a:solidFill>
            <a:prstDash val="solid"/>
          </a:ln>
        </p:spPr>
      </p:sp>
      <p:sp>
        <p:nvSpPr>
          <p:cNvPr id="25" name="Text 23"/>
          <p:cNvSpPr/>
          <p:nvPr/>
        </p:nvSpPr>
        <p:spPr>
          <a:xfrm>
            <a:off x="9509760" y="3529584"/>
            <a:ext cx="2295144" cy="640080"/>
          </a:xfrm>
          <a:prstGeom prst="rect">
            <a:avLst/>
          </a:prstGeom>
          <a:noFill/>
          <a:ln/>
        </p:spPr>
        <p:txBody>
          <a:bodyPr wrap="square" rtlCol="0" anchor="ctr"/>
          <a:lstStyle/>
          <a:p>
            <a:pPr indent="0" marL="0">
              <a:buNone/>
            </a:pPr>
            <a:r>
              <a:rPr lang="en-US" sz="3000" b="1" dirty="0">
                <a:solidFill>
                  <a:srgbClr val="34D399"/>
                </a:solidFill>
                <a:latin typeface="Consolas" pitchFamily="34" charset="0"/>
                <a:ea typeface="Consolas" pitchFamily="34" charset="-122"/>
                <a:cs typeface="Consolas" pitchFamily="34" charset="-120"/>
              </a:rPr>
              <a:t>18-19M</a:t>
            </a:r>
            <a:endParaRPr lang="en-US" sz="3000" dirty="0"/>
          </a:p>
        </p:txBody>
      </p:sp>
      <p:sp>
        <p:nvSpPr>
          <p:cNvPr id="26" name="Text 24"/>
          <p:cNvSpPr/>
          <p:nvPr/>
        </p:nvSpPr>
        <p:spPr>
          <a:xfrm>
            <a:off x="9509760" y="4224528"/>
            <a:ext cx="2295144" cy="502920"/>
          </a:xfrm>
          <a:prstGeom prst="rect">
            <a:avLst/>
          </a:prstGeom>
          <a:noFill/>
          <a:ln/>
        </p:spPr>
        <p:txBody>
          <a:bodyPr wrap="square" rtlCol="0" anchor="t"/>
          <a:lstStyle/>
          <a:p>
            <a:pPr indent="0" marL="0">
              <a:buNone/>
            </a:pPr>
            <a:r>
              <a:rPr lang="en-US" sz="1050" dirty="0">
                <a:solidFill>
                  <a:srgbClr val="A7B8B0"/>
                </a:solidFill>
                <a:latin typeface="Arial" pitchFamily="34" charset="0"/>
                <a:ea typeface="Arial" pitchFamily="34" charset="-122"/>
                <a:cs typeface="Arial" pitchFamily="34" charset="-120"/>
              </a:rPr>
              <a:t>Filipinos offline daily</a:t>
            </a:r>
            <a:endParaRPr lang="en-US" sz="1050" dirty="0"/>
          </a:p>
        </p:txBody>
      </p:sp>
      <p:sp>
        <p:nvSpPr>
          <p:cNvPr id="27" name="Text 25"/>
          <p:cNvSpPr/>
          <p:nvPr/>
        </p:nvSpPr>
        <p:spPr>
          <a:xfrm>
            <a:off x="548640" y="5669280"/>
            <a:ext cx="11430000" cy="457200"/>
          </a:xfrm>
          <a:prstGeom prst="rect">
            <a:avLst/>
          </a:prstGeom>
          <a:noFill/>
          <a:ln/>
        </p:spPr>
        <p:txBody>
          <a:bodyPr wrap="square" rtlCol="0" anchor="ctr"/>
          <a:lstStyle/>
          <a:p>
            <a:pPr indent="0" marL="0">
              <a:buNone/>
            </a:pPr>
            <a:r>
              <a:rPr lang="en-US" sz="1300" b="1" dirty="0">
                <a:solidFill>
                  <a:srgbClr val="34D399"/>
                </a:solidFill>
                <a:latin typeface="Arial" pitchFamily="34" charset="0"/>
                <a:ea typeface="Arial" pitchFamily="34" charset="-122"/>
                <a:cs typeface="Arial" pitchFamily="34" charset="-120"/>
              </a:rPr>
              <a:t>Wallets move money but offer no protection. Platforms protect but own your trust and take a cut. Neither lets you do both.</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512"/>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FBF87"/>
          </a:solidFill>
          <a:ln/>
        </p:spPr>
      </p:sp>
      <p:sp>
        <p:nvSpPr>
          <p:cNvPr id="3" name="Shape 1"/>
          <p:cNvSpPr/>
          <p:nvPr/>
        </p:nvSpPr>
        <p:spPr>
          <a:xfrm>
            <a:off x="548640" y="365760"/>
            <a:ext cx="310896" cy="310896"/>
          </a:xfrm>
          <a:prstGeom prst="roundRect">
            <a:avLst>
              <a:gd name="adj" fmla="val 17647"/>
            </a:avLst>
          </a:prstGeom>
          <a:solidFill>
            <a:srgbClr val="2FBF87"/>
          </a:solidFill>
          <a:ln/>
        </p:spPr>
      </p:sp>
      <p:sp>
        <p:nvSpPr>
          <p:cNvPr id="4" name="Text 2"/>
          <p:cNvSpPr/>
          <p:nvPr/>
        </p:nvSpPr>
        <p:spPr>
          <a:xfrm>
            <a:off x="548640" y="365760"/>
            <a:ext cx="310896" cy="310896"/>
          </a:xfrm>
          <a:prstGeom prst="rect">
            <a:avLst/>
          </a:prstGeom>
          <a:noFill/>
          <a:ln/>
        </p:spPr>
        <p:txBody>
          <a:bodyPr wrap="square" rtlCol="0" anchor="ctr"/>
          <a:lstStyle/>
          <a:p>
            <a:pPr algn="ctr" indent="0" marL="0">
              <a:buNone/>
            </a:pPr>
            <a:r>
              <a:rPr lang="en-US" sz="1500" b="1" dirty="0">
                <a:solidFill>
                  <a:srgbClr val="0B1512"/>
                </a:solidFill>
                <a:latin typeface="Arial" pitchFamily="34" charset="0"/>
                <a:ea typeface="Arial" pitchFamily="34" charset="-122"/>
                <a:cs typeface="Arial" pitchFamily="34" charset="-120"/>
              </a:rPr>
              <a:t>P</a:t>
            </a:r>
            <a:endParaRPr lang="en-US" sz="1500" dirty="0"/>
          </a:p>
        </p:txBody>
      </p:sp>
      <p:sp>
        <p:nvSpPr>
          <p:cNvPr id="5" name="Text 3"/>
          <p:cNvSpPr/>
          <p:nvPr/>
        </p:nvSpPr>
        <p:spPr>
          <a:xfrm>
            <a:off x="932688" y="365760"/>
            <a:ext cx="2743200" cy="310896"/>
          </a:xfrm>
          <a:prstGeom prst="rect">
            <a:avLst/>
          </a:prstGeom>
          <a:noFill/>
          <a:ln/>
        </p:spPr>
        <p:txBody>
          <a:bodyPr wrap="square" rtlCol="0" anchor="ctr"/>
          <a:lstStyle/>
          <a:p>
            <a:pPr indent="0" marL="0">
              <a:buNone/>
            </a:pPr>
            <a:r>
              <a:rPr lang="en-US" sz="1500" b="1" spc="200" kern="0" dirty="0">
                <a:solidFill>
                  <a:srgbClr val="FFFFFF"/>
                </a:solidFill>
                <a:latin typeface="Arial" pitchFamily="34" charset="0"/>
                <a:ea typeface="Arial" pitchFamily="34" charset="-122"/>
                <a:cs typeface="Arial" pitchFamily="34" charset="-120"/>
              </a:rPr>
              <a:t>PACTA</a:t>
            </a:r>
            <a:endParaRPr lang="en-US" sz="1500" dirty="0"/>
          </a:p>
        </p:txBody>
      </p:sp>
      <p:sp>
        <p:nvSpPr>
          <p:cNvPr id="6" name="Text 4"/>
          <p:cNvSpPr/>
          <p:nvPr/>
        </p:nvSpPr>
        <p:spPr>
          <a:xfrm>
            <a:off x="10271455" y="365760"/>
            <a:ext cx="1371600" cy="310896"/>
          </a:xfrm>
          <a:prstGeom prst="rect">
            <a:avLst/>
          </a:prstGeom>
          <a:noFill/>
          <a:ln/>
        </p:spPr>
        <p:txBody>
          <a:bodyPr wrap="square" rtlCol="0" anchor="ctr"/>
          <a:lstStyle/>
          <a:p>
            <a:pPr algn="r" indent="0" marL="0">
              <a:buNone/>
            </a:pPr>
            <a:r>
              <a:rPr lang="en-US" sz="1100" dirty="0">
                <a:solidFill>
                  <a:srgbClr val="A7B8B0"/>
                </a:solidFill>
                <a:latin typeface="Consolas" pitchFamily="34" charset="0"/>
                <a:ea typeface="Consolas" pitchFamily="34" charset="-122"/>
                <a:cs typeface="Consolas" pitchFamily="34" charset="-120"/>
              </a:rPr>
              <a:t>03 / 07</a:t>
            </a:r>
            <a:endParaRPr lang="en-US" sz="1100" dirty="0"/>
          </a:p>
        </p:txBody>
      </p:sp>
      <p:sp>
        <p:nvSpPr>
          <p:cNvPr id="7" name="Text 5"/>
          <p:cNvSpPr/>
          <p:nvPr/>
        </p:nvSpPr>
        <p:spPr>
          <a:xfrm>
            <a:off x="548640" y="6437376"/>
            <a:ext cx="8229600" cy="274320"/>
          </a:xfrm>
          <a:prstGeom prst="rect">
            <a:avLst/>
          </a:prstGeom>
          <a:noFill/>
          <a:ln/>
        </p:spPr>
        <p:txBody>
          <a:bodyPr wrap="square" rtlCol="0" anchor="ctr"/>
          <a:lstStyle/>
          <a:p>
            <a:pPr indent="0" marL="0">
              <a:buNone/>
            </a:pPr>
            <a:r>
              <a:rPr lang="en-US" sz="900" dirty="0">
                <a:solidFill>
                  <a:srgbClr val="A7B8B0"/>
                </a:solidFill>
                <a:latin typeface="Consolas" pitchFamily="34" charset="0"/>
                <a:ea typeface="Consolas" pitchFamily="34" charset="-122"/>
                <a:cs typeface="Consolas" pitchFamily="34" charset="-120"/>
              </a:rPr>
              <a:t>getpacta.app   ·   Trust, written in code.</a:t>
            </a:r>
            <a:endParaRPr lang="en-US" sz="900" dirty="0"/>
          </a:p>
        </p:txBody>
      </p:sp>
      <p:sp>
        <p:nvSpPr>
          <p:cNvPr id="8" name="Text 6"/>
          <p:cNvSpPr/>
          <p:nvPr/>
        </p:nvSpPr>
        <p:spPr>
          <a:xfrm>
            <a:off x="548640" y="868680"/>
            <a:ext cx="11064240" cy="548640"/>
          </a:xfrm>
          <a:prstGeom prst="rect">
            <a:avLst/>
          </a:prstGeom>
          <a:noFill/>
          <a:ln/>
        </p:spPr>
        <p:txBody>
          <a:bodyPr wrap="square" rtlCol="0" anchor="ctr"/>
          <a:lstStyle/>
          <a:p>
            <a:pPr indent="0" marL="0">
              <a:buNone/>
            </a:pPr>
            <a:r>
              <a:rPr lang="en-US" sz="2600" b="1" dirty="0">
                <a:solidFill>
                  <a:srgbClr val="FFFFFF"/>
                </a:solidFill>
                <a:latin typeface="Arial" pitchFamily="34" charset="0"/>
                <a:ea typeface="Arial" pitchFamily="34" charset="-122"/>
                <a:cs typeface="Arial" pitchFamily="34" charset="-120"/>
              </a:rPr>
              <a:t>The Solution: Send Now, or Send Protected</a:t>
            </a:r>
            <a:endParaRPr lang="en-US" sz="2600" dirty="0"/>
          </a:p>
        </p:txBody>
      </p:sp>
      <p:sp>
        <p:nvSpPr>
          <p:cNvPr id="9" name="Shape 7"/>
          <p:cNvSpPr/>
          <p:nvPr/>
        </p:nvSpPr>
        <p:spPr>
          <a:xfrm>
            <a:off x="566928" y="1417320"/>
            <a:ext cx="822960" cy="41148"/>
          </a:xfrm>
          <a:prstGeom prst="rect">
            <a:avLst/>
          </a:prstGeom>
          <a:solidFill>
            <a:srgbClr val="2FBF87"/>
          </a:solidFill>
          <a:ln/>
        </p:spPr>
      </p:sp>
      <p:sp>
        <p:nvSpPr>
          <p:cNvPr id="10" name="Shape 8"/>
          <p:cNvSpPr/>
          <p:nvPr/>
        </p:nvSpPr>
        <p:spPr>
          <a:xfrm>
            <a:off x="548640" y="1645920"/>
            <a:ext cx="11091672" cy="658368"/>
          </a:xfrm>
          <a:prstGeom prst="roundRect">
            <a:avLst>
              <a:gd name="adj" fmla="val 13889"/>
            </a:avLst>
          </a:prstGeom>
          <a:solidFill>
            <a:srgbClr val="14281F"/>
          </a:solidFill>
          <a:ln w="12700">
            <a:solidFill>
              <a:srgbClr val="2FBF87"/>
            </a:solidFill>
            <a:prstDash val="solid"/>
          </a:ln>
        </p:spPr>
      </p:sp>
      <p:sp>
        <p:nvSpPr>
          <p:cNvPr id="11" name="Text 9"/>
          <p:cNvSpPr/>
          <p:nvPr/>
        </p:nvSpPr>
        <p:spPr>
          <a:xfrm>
            <a:off x="731520" y="1645920"/>
            <a:ext cx="10698480" cy="658368"/>
          </a:xfrm>
          <a:prstGeom prst="rect">
            <a:avLst/>
          </a:prstGeom>
          <a:noFill/>
          <a:ln/>
        </p:spPr>
        <p:txBody>
          <a:bodyPr wrap="square" rtlCol="0" anchor="ctr"/>
          <a:lstStyle/>
          <a:p>
            <a:pPr algn="ctr" indent="0" marL="0">
              <a:buNone/>
            </a:pPr>
            <a:r>
              <a:rPr lang="en-US" sz="1250" dirty="0">
                <a:solidFill>
                  <a:srgbClr val="34D399"/>
                </a:solidFill>
                <a:latin typeface="Consolas" pitchFamily="34" charset="0"/>
                <a:ea typeface="Consolas" pitchFamily="34" charset="-122"/>
                <a:cs typeface="Consolas" pitchFamily="34" charset="-120"/>
              </a:rPr>
              <a:t>create  -&gt;  recipient posts bond  -&gt;  deposit  -&gt;  staged milestone release  -&gt;  complete (bond returned)  /  refund + bond to sender</a:t>
            </a:r>
            <a:endParaRPr lang="en-US" sz="1250" dirty="0"/>
          </a:p>
        </p:txBody>
      </p:sp>
      <p:sp>
        <p:nvSpPr>
          <p:cNvPr id="12" name="Shape 10"/>
          <p:cNvSpPr/>
          <p:nvPr/>
        </p:nvSpPr>
        <p:spPr>
          <a:xfrm>
            <a:off x="548640" y="2514600"/>
            <a:ext cx="2679192" cy="1874520"/>
          </a:xfrm>
          <a:prstGeom prst="roundRect">
            <a:avLst>
              <a:gd name="adj" fmla="val 3902"/>
            </a:avLst>
          </a:prstGeom>
          <a:solidFill>
            <a:srgbClr val="11211A"/>
          </a:solidFill>
          <a:ln w="12700">
            <a:solidFill>
              <a:srgbClr val="20402F"/>
            </a:solidFill>
            <a:prstDash val="solid"/>
          </a:ln>
        </p:spPr>
      </p:sp>
      <p:sp>
        <p:nvSpPr>
          <p:cNvPr id="13" name="Text 11"/>
          <p:cNvSpPr/>
          <p:nvPr/>
        </p:nvSpPr>
        <p:spPr>
          <a:xfrm>
            <a:off x="768096" y="2679192"/>
            <a:ext cx="850392" cy="365760"/>
          </a:xfrm>
          <a:prstGeom prst="rect">
            <a:avLst/>
          </a:prstGeom>
          <a:noFill/>
          <a:ln/>
        </p:spPr>
        <p:txBody>
          <a:bodyPr wrap="square" rtlCol="0" anchor="ctr"/>
          <a:lstStyle/>
          <a:p>
            <a:pPr indent="0" marL="0">
              <a:buNone/>
            </a:pPr>
            <a:r>
              <a:rPr lang="en-US" sz="1450" b="1" dirty="0">
                <a:solidFill>
                  <a:srgbClr val="FFFFFF"/>
                </a:solidFill>
                <a:latin typeface="Arial" pitchFamily="34" charset="0"/>
                <a:ea typeface="Arial" pitchFamily="34" charset="-122"/>
                <a:cs typeface="Arial" pitchFamily="34" charset="-120"/>
              </a:rPr>
              <a:t>Staged release</a:t>
            </a:r>
            <a:endParaRPr lang="en-US" sz="1450" dirty="0"/>
          </a:p>
        </p:txBody>
      </p:sp>
      <p:sp>
        <p:nvSpPr>
          <p:cNvPr id="14" name="Text 12"/>
          <p:cNvSpPr/>
          <p:nvPr/>
        </p:nvSpPr>
        <p:spPr>
          <a:xfrm>
            <a:off x="768096" y="3081528"/>
            <a:ext cx="2240280" cy="1161288"/>
          </a:xfrm>
          <a:prstGeom prst="rect">
            <a:avLst/>
          </a:prstGeom>
          <a:noFill/>
          <a:ln/>
        </p:spPr>
        <p:txBody>
          <a:bodyPr wrap="square" rtlCol="0" anchor="t"/>
          <a:lstStyle/>
          <a:p>
            <a:pPr indent="0" marL="0">
              <a:lnSpc>
                <a:spcPct val="105000"/>
              </a:lnSpc>
              <a:buNone/>
            </a:pPr>
            <a:r>
              <a:rPr lang="en-US" sz="1100" dirty="0">
                <a:solidFill>
                  <a:srgbClr val="A7B8B0"/>
                </a:solidFill>
                <a:latin typeface="Arial" pitchFamily="34" charset="0"/>
                <a:ea typeface="Arial" pitchFamily="34" charset="-122"/>
                <a:cs typeface="Arial" pitchFamily="34" charset="-120"/>
              </a:rPr>
              <a:t>Funds release milestone by milestone, so only a slice is ever exposed at a time.</a:t>
            </a:r>
            <a:endParaRPr lang="en-US" sz="1100" dirty="0"/>
          </a:p>
        </p:txBody>
      </p:sp>
      <p:sp>
        <p:nvSpPr>
          <p:cNvPr id="15" name="Shape 13"/>
          <p:cNvSpPr/>
          <p:nvPr/>
        </p:nvSpPr>
        <p:spPr>
          <a:xfrm>
            <a:off x="3346704" y="2514600"/>
            <a:ext cx="2679192" cy="1874520"/>
          </a:xfrm>
          <a:prstGeom prst="roundRect">
            <a:avLst>
              <a:gd name="adj" fmla="val 3902"/>
            </a:avLst>
          </a:prstGeom>
          <a:solidFill>
            <a:srgbClr val="11211A"/>
          </a:solidFill>
          <a:ln w="12700">
            <a:solidFill>
              <a:srgbClr val="20402F"/>
            </a:solidFill>
            <a:prstDash val="solid"/>
          </a:ln>
        </p:spPr>
      </p:sp>
      <p:sp>
        <p:nvSpPr>
          <p:cNvPr id="16" name="Text 14"/>
          <p:cNvSpPr/>
          <p:nvPr/>
        </p:nvSpPr>
        <p:spPr>
          <a:xfrm>
            <a:off x="3566160" y="2679192"/>
            <a:ext cx="850392" cy="365760"/>
          </a:xfrm>
          <a:prstGeom prst="rect">
            <a:avLst/>
          </a:prstGeom>
          <a:noFill/>
          <a:ln/>
        </p:spPr>
        <p:txBody>
          <a:bodyPr wrap="square" rtlCol="0" anchor="ctr"/>
          <a:lstStyle/>
          <a:p>
            <a:pPr indent="0" marL="0">
              <a:buNone/>
            </a:pPr>
            <a:r>
              <a:rPr lang="en-US" sz="1450" b="1" dirty="0">
                <a:solidFill>
                  <a:srgbClr val="FFFFFF"/>
                </a:solidFill>
                <a:latin typeface="Arial" pitchFamily="34" charset="0"/>
                <a:ea typeface="Arial" pitchFamily="34" charset="-122"/>
                <a:cs typeface="Arial" pitchFamily="34" charset="-120"/>
              </a:rPr>
              <a:t>Recipient bond</a:t>
            </a:r>
            <a:endParaRPr lang="en-US" sz="1450" dirty="0"/>
          </a:p>
        </p:txBody>
      </p:sp>
      <p:sp>
        <p:nvSpPr>
          <p:cNvPr id="17" name="Text 15"/>
          <p:cNvSpPr/>
          <p:nvPr/>
        </p:nvSpPr>
        <p:spPr>
          <a:xfrm>
            <a:off x="3566160" y="3081528"/>
            <a:ext cx="2240280" cy="1161288"/>
          </a:xfrm>
          <a:prstGeom prst="rect">
            <a:avLst/>
          </a:prstGeom>
          <a:noFill/>
          <a:ln/>
        </p:spPr>
        <p:txBody>
          <a:bodyPr wrap="square" rtlCol="0" anchor="t"/>
          <a:lstStyle/>
          <a:p>
            <a:pPr indent="0" marL="0">
              <a:lnSpc>
                <a:spcPct val="105000"/>
              </a:lnSpc>
              <a:buNone/>
            </a:pPr>
            <a:r>
              <a:rPr lang="en-US" sz="1100" dirty="0">
                <a:solidFill>
                  <a:srgbClr val="A7B8B0"/>
                </a:solidFill>
                <a:latin typeface="Arial" pitchFamily="34" charset="0"/>
                <a:ea typeface="Arial" pitchFamily="34" charset="-122"/>
                <a:cs typeface="Arial" pitchFamily="34" charset="-120"/>
              </a:rPr>
              <a:t>The recipient posts a security bond, real skin in the game, earned back only on delivery.</a:t>
            </a:r>
            <a:endParaRPr lang="en-US" sz="1100" dirty="0"/>
          </a:p>
        </p:txBody>
      </p:sp>
      <p:sp>
        <p:nvSpPr>
          <p:cNvPr id="18" name="Shape 16"/>
          <p:cNvSpPr/>
          <p:nvPr/>
        </p:nvSpPr>
        <p:spPr>
          <a:xfrm>
            <a:off x="6144768" y="2514600"/>
            <a:ext cx="2679192" cy="1874520"/>
          </a:xfrm>
          <a:prstGeom prst="roundRect">
            <a:avLst>
              <a:gd name="adj" fmla="val 3902"/>
            </a:avLst>
          </a:prstGeom>
          <a:solidFill>
            <a:srgbClr val="11211A"/>
          </a:solidFill>
          <a:ln w="12700">
            <a:solidFill>
              <a:srgbClr val="20402F"/>
            </a:solidFill>
            <a:prstDash val="solid"/>
          </a:ln>
        </p:spPr>
      </p:sp>
      <p:sp>
        <p:nvSpPr>
          <p:cNvPr id="19" name="Text 17"/>
          <p:cNvSpPr/>
          <p:nvPr/>
        </p:nvSpPr>
        <p:spPr>
          <a:xfrm>
            <a:off x="6364224" y="2679192"/>
            <a:ext cx="850392" cy="365760"/>
          </a:xfrm>
          <a:prstGeom prst="rect">
            <a:avLst/>
          </a:prstGeom>
          <a:noFill/>
          <a:ln/>
        </p:spPr>
        <p:txBody>
          <a:bodyPr wrap="square" rtlCol="0" anchor="ctr"/>
          <a:lstStyle/>
          <a:p>
            <a:pPr indent="0" marL="0">
              <a:buNone/>
            </a:pPr>
            <a:r>
              <a:rPr lang="en-US" sz="1450" b="1" dirty="0">
                <a:solidFill>
                  <a:srgbClr val="FFFFFF"/>
                </a:solidFill>
                <a:latin typeface="Arial" pitchFamily="34" charset="0"/>
                <a:ea typeface="Arial" pitchFamily="34" charset="-122"/>
                <a:cs typeface="Arial" pitchFamily="34" charset="-120"/>
              </a:rPr>
              <a:t>Deadline refund</a:t>
            </a:r>
            <a:endParaRPr lang="en-US" sz="1450" dirty="0"/>
          </a:p>
        </p:txBody>
      </p:sp>
      <p:sp>
        <p:nvSpPr>
          <p:cNvPr id="20" name="Text 18"/>
          <p:cNvSpPr/>
          <p:nvPr/>
        </p:nvSpPr>
        <p:spPr>
          <a:xfrm>
            <a:off x="6364224" y="3081528"/>
            <a:ext cx="2240280" cy="1161288"/>
          </a:xfrm>
          <a:prstGeom prst="rect">
            <a:avLst/>
          </a:prstGeom>
          <a:noFill/>
          <a:ln/>
        </p:spPr>
        <p:txBody>
          <a:bodyPr wrap="square" rtlCol="0" anchor="t"/>
          <a:lstStyle/>
          <a:p>
            <a:pPr indent="0" marL="0">
              <a:lnSpc>
                <a:spcPct val="105000"/>
              </a:lnSpc>
              <a:buNone/>
            </a:pPr>
            <a:r>
              <a:rPr lang="en-US" sz="1100" dirty="0">
                <a:solidFill>
                  <a:srgbClr val="A7B8B0"/>
                </a:solidFill>
                <a:latin typeface="Arial" pitchFamily="34" charset="0"/>
                <a:ea typeface="Arial" pitchFamily="34" charset="-122"/>
                <a:cs typeface="Arial" pitchFamily="34" charset="-120"/>
              </a:rPr>
              <a:t>No delivery by the deadline? The sender reclaims the unreleased funds PLUS the bond.</a:t>
            </a:r>
            <a:endParaRPr lang="en-US" sz="1100" dirty="0"/>
          </a:p>
        </p:txBody>
      </p:sp>
      <p:sp>
        <p:nvSpPr>
          <p:cNvPr id="21" name="Shape 19"/>
          <p:cNvSpPr/>
          <p:nvPr/>
        </p:nvSpPr>
        <p:spPr>
          <a:xfrm>
            <a:off x="8942832" y="2514600"/>
            <a:ext cx="2679192" cy="1874520"/>
          </a:xfrm>
          <a:prstGeom prst="roundRect">
            <a:avLst>
              <a:gd name="adj" fmla="val 3902"/>
            </a:avLst>
          </a:prstGeom>
          <a:solidFill>
            <a:srgbClr val="11211A"/>
          </a:solidFill>
          <a:ln w="12700">
            <a:solidFill>
              <a:srgbClr val="20402F"/>
            </a:solidFill>
            <a:prstDash val="solid"/>
          </a:ln>
        </p:spPr>
      </p:sp>
      <p:sp>
        <p:nvSpPr>
          <p:cNvPr id="22" name="Text 20"/>
          <p:cNvSpPr/>
          <p:nvPr/>
        </p:nvSpPr>
        <p:spPr>
          <a:xfrm>
            <a:off x="9162288" y="2679192"/>
            <a:ext cx="850392" cy="365760"/>
          </a:xfrm>
          <a:prstGeom prst="rect">
            <a:avLst/>
          </a:prstGeom>
          <a:noFill/>
          <a:ln/>
        </p:spPr>
        <p:txBody>
          <a:bodyPr wrap="square" rtlCol="0" anchor="ctr"/>
          <a:lstStyle/>
          <a:p>
            <a:pPr indent="0" marL="0">
              <a:buNone/>
            </a:pPr>
            <a:r>
              <a:rPr lang="en-US" sz="1450" b="1" dirty="0">
                <a:solidFill>
                  <a:srgbClr val="FFFFFF"/>
                </a:solidFill>
                <a:latin typeface="Arial" pitchFamily="34" charset="0"/>
                <a:ea typeface="Arial" pitchFamily="34" charset="-122"/>
                <a:cs typeface="Arial" pitchFamily="34" charset="-120"/>
              </a:rPr>
              <a:t>On-chain reputation</a:t>
            </a:r>
            <a:endParaRPr lang="en-US" sz="1450" dirty="0"/>
          </a:p>
        </p:txBody>
      </p:sp>
      <p:sp>
        <p:nvSpPr>
          <p:cNvPr id="23" name="Text 21"/>
          <p:cNvSpPr/>
          <p:nvPr/>
        </p:nvSpPr>
        <p:spPr>
          <a:xfrm>
            <a:off x="9162288" y="3081528"/>
            <a:ext cx="2240280" cy="1161288"/>
          </a:xfrm>
          <a:prstGeom prst="rect">
            <a:avLst/>
          </a:prstGeom>
          <a:noFill/>
          <a:ln/>
        </p:spPr>
        <p:txBody>
          <a:bodyPr wrap="square" rtlCol="0" anchor="t"/>
          <a:lstStyle/>
          <a:p>
            <a:pPr indent="0" marL="0">
              <a:lnSpc>
                <a:spcPct val="105000"/>
              </a:lnSpc>
              <a:buNone/>
            </a:pPr>
            <a:r>
              <a:rPr lang="en-US" sz="1100" dirty="0">
                <a:solidFill>
                  <a:srgbClr val="A7B8B0"/>
                </a:solidFill>
                <a:latin typeface="Arial" pitchFamily="34" charset="0"/>
                <a:ea typeface="Arial" pitchFamily="34" charset="-122"/>
                <a:cs typeface="Arial" pitchFamily="34" charset="-120"/>
              </a:rPr>
              <a:t>Every Pact builds a portable trust record the user owns, not a platform.</a:t>
            </a:r>
            <a:endParaRPr lang="en-US" sz="1100" dirty="0"/>
          </a:p>
        </p:txBody>
      </p:sp>
      <p:sp>
        <p:nvSpPr>
          <p:cNvPr id="24" name="Shape 22"/>
          <p:cNvSpPr/>
          <p:nvPr/>
        </p:nvSpPr>
        <p:spPr>
          <a:xfrm>
            <a:off x="548640" y="4617720"/>
            <a:ext cx="11091672" cy="1051560"/>
          </a:xfrm>
          <a:prstGeom prst="roundRect">
            <a:avLst>
              <a:gd name="adj" fmla="val 6957"/>
            </a:avLst>
          </a:prstGeom>
          <a:solidFill>
            <a:srgbClr val="11211A"/>
          </a:solidFill>
          <a:ln w="12700">
            <a:solidFill>
              <a:srgbClr val="20402F"/>
            </a:solidFill>
            <a:prstDash val="solid"/>
          </a:ln>
        </p:spPr>
      </p:sp>
      <p:sp>
        <p:nvSpPr>
          <p:cNvPr id="25" name="Text 23"/>
          <p:cNvSpPr/>
          <p:nvPr/>
        </p:nvSpPr>
        <p:spPr>
          <a:xfrm>
            <a:off x="749808" y="4754880"/>
            <a:ext cx="10698480" cy="777240"/>
          </a:xfrm>
          <a:prstGeom prst="rect">
            <a:avLst/>
          </a:prstGeom>
          <a:noFill/>
          <a:ln/>
        </p:spPr>
        <p:txBody>
          <a:bodyPr wrap="square" rtlCol="0" anchor="ctr"/>
          <a:lstStyle/>
          <a:p>
            <a:pPr indent="0" marL="0">
              <a:lnSpc>
                <a:spcPct val="105000"/>
              </a:lnSpc>
              <a:buNone/>
            </a:pPr>
            <a:r>
              <a:rPr lang="en-US" sz="1250" b="1" dirty="0">
                <a:solidFill>
                  <a:srgbClr val="34D399"/>
                </a:solidFill>
                <a:latin typeface="Arial" pitchFamily="34" charset="0"/>
                <a:ea typeface="Arial" pitchFamily="34" charset="-122"/>
                <a:cs typeface="Arial" pitchFamily="34" charset="-120"/>
              </a:rPr>
              <a:t>Honest by design.  </a:t>
            </a:r>
            <a:pPr indent="0" marL="0">
              <a:lnSpc>
                <a:spcPct val="105000"/>
              </a:lnSpc>
              <a:buNone/>
            </a:pPr>
            <a:r>
              <a:rPr lang="en-US" sz="1250" dirty="0">
                <a:solidFill>
                  <a:srgbClr val="A7B8B0"/>
                </a:solidFill>
                <a:latin typeface="Arial" pitchFamily="34" charset="0"/>
                <a:ea typeface="Arial" pitchFamily="34" charset="-122"/>
                <a:cs typeface="Arial" pitchFamily="34" charset="-120"/>
              </a:rPr>
              <a:t>Naive "lock the money" escrow is not actually safe: once funds reach someone, code cannot claw them back. PACTA protects with the two things that ARE enforceable on-chain: staged release (limits exposure) and the bond (collateralizes the released portion).</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512"/>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FBF87"/>
          </a:solidFill>
          <a:ln/>
        </p:spPr>
      </p:sp>
      <p:sp>
        <p:nvSpPr>
          <p:cNvPr id="3" name="Shape 1"/>
          <p:cNvSpPr/>
          <p:nvPr/>
        </p:nvSpPr>
        <p:spPr>
          <a:xfrm>
            <a:off x="548640" y="365760"/>
            <a:ext cx="310896" cy="310896"/>
          </a:xfrm>
          <a:prstGeom prst="roundRect">
            <a:avLst>
              <a:gd name="adj" fmla="val 17647"/>
            </a:avLst>
          </a:prstGeom>
          <a:solidFill>
            <a:srgbClr val="2FBF87"/>
          </a:solidFill>
          <a:ln/>
        </p:spPr>
      </p:sp>
      <p:sp>
        <p:nvSpPr>
          <p:cNvPr id="4" name="Text 2"/>
          <p:cNvSpPr/>
          <p:nvPr/>
        </p:nvSpPr>
        <p:spPr>
          <a:xfrm>
            <a:off x="548640" y="365760"/>
            <a:ext cx="310896" cy="310896"/>
          </a:xfrm>
          <a:prstGeom prst="rect">
            <a:avLst/>
          </a:prstGeom>
          <a:noFill/>
          <a:ln/>
        </p:spPr>
        <p:txBody>
          <a:bodyPr wrap="square" rtlCol="0" anchor="ctr"/>
          <a:lstStyle/>
          <a:p>
            <a:pPr algn="ctr" indent="0" marL="0">
              <a:buNone/>
            </a:pPr>
            <a:r>
              <a:rPr lang="en-US" sz="1500" b="1" dirty="0">
                <a:solidFill>
                  <a:srgbClr val="0B1512"/>
                </a:solidFill>
                <a:latin typeface="Arial" pitchFamily="34" charset="0"/>
                <a:ea typeface="Arial" pitchFamily="34" charset="-122"/>
                <a:cs typeface="Arial" pitchFamily="34" charset="-120"/>
              </a:rPr>
              <a:t>P</a:t>
            </a:r>
            <a:endParaRPr lang="en-US" sz="1500" dirty="0"/>
          </a:p>
        </p:txBody>
      </p:sp>
      <p:sp>
        <p:nvSpPr>
          <p:cNvPr id="5" name="Text 3"/>
          <p:cNvSpPr/>
          <p:nvPr/>
        </p:nvSpPr>
        <p:spPr>
          <a:xfrm>
            <a:off x="932688" y="365760"/>
            <a:ext cx="2743200" cy="310896"/>
          </a:xfrm>
          <a:prstGeom prst="rect">
            <a:avLst/>
          </a:prstGeom>
          <a:noFill/>
          <a:ln/>
        </p:spPr>
        <p:txBody>
          <a:bodyPr wrap="square" rtlCol="0" anchor="ctr"/>
          <a:lstStyle/>
          <a:p>
            <a:pPr indent="0" marL="0">
              <a:buNone/>
            </a:pPr>
            <a:r>
              <a:rPr lang="en-US" sz="1500" b="1" spc="200" kern="0" dirty="0">
                <a:solidFill>
                  <a:srgbClr val="FFFFFF"/>
                </a:solidFill>
                <a:latin typeface="Arial" pitchFamily="34" charset="0"/>
                <a:ea typeface="Arial" pitchFamily="34" charset="-122"/>
                <a:cs typeface="Arial" pitchFamily="34" charset="-120"/>
              </a:rPr>
              <a:t>PACTA</a:t>
            </a:r>
            <a:endParaRPr lang="en-US" sz="1500" dirty="0"/>
          </a:p>
        </p:txBody>
      </p:sp>
      <p:sp>
        <p:nvSpPr>
          <p:cNvPr id="6" name="Text 4"/>
          <p:cNvSpPr/>
          <p:nvPr/>
        </p:nvSpPr>
        <p:spPr>
          <a:xfrm>
            <a:off x="10271455" y="365760"/>
            <a:ext cx="1371600" cy="310896"/>
          </a:xfrm>
          <a:prstGeom prst="rect">
            <a:avLst/>
          </a:prstGeom>
          <a:noFill/>
          <a:ln/>
        </p:spPr>
        <p:txBody>
          <a:bodyPr wrap="square" rtlCol="0" anchor="ctr"/>
          <a:lstStyle/>
          <a:p>
            <a:pPr algn="r" indent="0" marL="0">
              <a:buNone/>
            </a:pPr>
            <a:r>
              <a:rPr lang="en-US" sz="1100" dirty="0">
                <a:solidFill>
                  <a:srgbClr val="A7B8B0"/>
                </a:solidFill>
                <a:latin typeface="Consolas" pitchFamily="34" charset="0"/>
                <a:ea typeface="Consolas" pitchFamily="34" charset="-122"/>
                <a:cs typeface="Consolas" pitchFamily="34" charset="-120"/>
              </a:rPr>
              <a:t>04 / 07</a:t>
            </a:r>
            <a:endParaRPr lang="en-US" sz="1100" dirty="0"/>
          </a:p>
        </p:txBody>
      </p:sp>
      <p:sp>
        <p:nvSpPr>
          <p:cNvPr id="7" name="Text 5"/>
          <p:cNvSpPr/>
          <p:nvPr/>
        </p:nvSpPr>
        <p:spPr>
          <a:xfrm>
            <a:off x="548640" y="6437376"/>
            <a:ext cx="8229600" cy="274320"/>
          </a:xfrm>
          <a:prstGeom prst="rect">
            <a:avLst/>
          </a:prstGeom>
          <a:noFill/>
          <a:ln/>
        </p:spPr>
        <p:txBody>
          <a:bodyPr wrap="square" rtlCol="0" anchor="ctr"/>
          <a:lstStyle/>
          <a:p>
            <a:pPr indent="0" marL="0">
              <a:buNone/>
            </a:pPr>
            <a:r>
              <a:rPr lang="en-US" sz="900" dirty="0">
                <a:solidFill>
                  <a:srgbClr val="A7B8B0"/>
                </a:solidFill>
                <a:latin typeface="Consolas" pitchFamily="34" charset="0"/>
                <a:ea typeface="Consolas" pitchFamily="34" charset="-122"/>
                <a:cs typeface="Consolas" pitchFamily="34" charset="-120"/>
              </a:rPr>
              <a:t>getpacta.app   ·   Trust, written in code.</a:t>
            </a:r>
            <a:endParaRPr lang="en-US" sz="900" dirty="0"/>
          </a:p>
        </p:txBody>
      </p:sp>
      <p:sp>
        <p:nvSpPr>
          <p:cNvPr id="8" name="Text 6"/>
          <p:cNvSpPr/>
          <p:nvPr/>
        </p:nvSpPr>
        <p:spPr>
          <a:xfrm>
            <a:off x="548640" y="868680"/>
            <a:ext cx="11064240" cy="548640"/>
          </a:xfrm>
          <a:prstGeom prst="rect">
            <a:avLst/>
          </a:prstGeom>
          <a:noFill/>
          <a:ln/>
        </p:spPr>
        <p:txBody>
          <a:bodyPr wrap="square" rtlCol="0" anchor="ctr"/>
          <a:lstStyle/>
          <a:p>
            <a:pPr indent="0" marL="0">
              <a:buNone/>
            </a:pPr>
            <a:r>
              <a:rPr lang="en-US" sz="2600" b="1" dirty="0">
                <a:solidFill>
                  <a:srgbClr val="FFFFFF"/>
                </a:solidFill>
                <a:latin typeface="Arial" pitchFamily="34" charset="0"/>
                <a:ea typeface="Arial" pitchFamily="34" charset="-122"/>
                <a:cs typeface="Arial" pitchFamily="34" charset="-120"/>
              </a:rPr>
              <a:t>Why PACTA Wins</a:t>
            </a:r>
            <a:endParaRPr lang="en-US" sz="2600" dirty="0"/>
          </a:p>
        </p:txBody>
      </p:sp>
      <p:sp>
        <p:nvSpPr>
          <p:cNvPr id="9" name="Shape 7"/>
          <p:cNvSpPr/>
          <p:nvPr/>
        </p:nvSpPr>
        <p:spPr>
          <a:xfrm>
            <a:off x="566928" y="1417320"/>
            <a:ext cx="822960" cy="41148"/>
          </a:xfrm>
          <a:prstGeom prst="rect">
            <a:avLst/>
          </a:prstGeom>
          <a:solidFill>
            <a:srgbClr val="2FBF87"/>
          </a:solidFill>
          <a:ln/>
        </p:spPr>
      </p:sp>
      <p:sp>
        <p:nvSpPr>
          <p:cNvPr id="10" name="Shape 8"/>
          <p:cNvSpPr/>
          <p:nvPr/>
        </p:nvSpPr>
        <p:spPr>
          <a:xfrm>
            <a:off x="548640" y="1645920"/>
            <a:ext cx="5468112" cy="1600200"/>
          </a:xfrm>
          <a:prstGeom prst="roundRect">
            <a:avLst>
              <a:gd name="adj" fmla="val 4571"/>
            </a:avLst>
          </a:prstGeom>
          <a:solidFill>
            <a:srgbClr val="11211A"/>
          </a:solidFill>
          <a:ln w="12700">
            <a:solidFill>
              <a:srgbClr val="20402F"/>
            </a:solidFill>
            <a:prstDash val="solid"/>
          </a:ln>
        </p:spPr>
      </p:sp>
      <p:sp>
        <p:nvSpPr>
          <p:cNvPr id="11" name="Text 9"/>
          <p:cNvSpPr/>
          <p:nvPr/>
        </p:nvSpPr>
        <p:spPr>
          <a:xfrm>
            <a:off x="4279392" y="1792224"/>
            <a:ext cx="1554480" cy="274320"/>
          </a:xfrm>
          <a:prstGeom prst="rect">
            <a:avLst/>
          </a:prstGeom>
          <a:noFill/>
          <a:ln/>
        </p:spPr>
        <p:txBody>
          <a:bodyPr wrap="square" rtlCol="0" anchor="ctr"/>
          <a:lstStyle/>
          <a:p>
            <a:pPr algn="r" indent="0" marL="0">
              <a:buNone/>
            </a:pPr>
            <a:r>
              <a:rPr lang="en-US" sz="900" dirty="0">
                <a:solidFill>
                  <a:srgbClr val="34D399"/>
                </a:solidFill>
                <a:latin typeface="Consolas" pitchFamily="34" charset="0"/>
                <a:ea typeface="Consolas" pitchFamily="34" charset="-122"/>
                <a:cs typeface="Consolas" pitchFamily="34" charset="-120"/>
              </a:rPr>
              <a:t>REAL</a:t>
            </a:r>
            <a:endParaRPr lang="en-US" sz="900" dirty="0"/>
          </a:p>
        </p:txBody>
      </p:sp>
      <p:sp>
        <p:nvSpPr>
          <p:cNvPr id="12" name="Text 10"/>
          <p:cNvSpPr/>
          <p:nvPr/>
        </p:nvSpPr>
        <p:spPr>
          <a:xfrm>
            <a:off x="768096" y="1810512"/>
            <a:ext cx="3639312" cy="365760"/>
          </a:xfrm>
          <a:prstGeom prst="rect">
            <a:avLst/>
          </a:prstGeom>
          <a:noFill/>
          <a:ln/>
        </p:spPr>
        <p:txBody>
          <a:bodyPr wrap="square" rtlCol="0" anchor="ctr"/>
          <a:lstStyle/>
          <a:p>
            <a:pPr indent="0" marL="0">
              <a:buNone/>
            </a:pPr>
            <a:r>
              <a:rPr lang="en-US" sz="1450" b="1" dirty="0">
                <a:solidFill>
                  <a:srgbClr val="FFFFFF"/>
                </a:solidFill>
                <a:latin typeface="Arial" pitchFamily="34" charset="0"/>
                <a:ea typeface="Arial" pitchFamily="34" charset="-122"/>
                <a:cs typeface="Arial" pitchFamily="34" charset="-120"/>
              </a:rPr>
              <a:t>Live on mainnet</a:t>
            </a:r>
            <a:endParaRPr lang="en-US" sz="1450" dirty="0"/>
          </a:p>
        </p:txBody>
      </p:sp>
      <p:sp>
        <p:nvSpPr>
          <p:cNvPr id="13" name="Text 11"/>
          <p:cNvSpPr/>
          <p:nvPr/>
        </p:nvSpPr>
        <p:spPr>
          <a:xfrm>
            <a:off x="768096" y="2212848"/>
            <a:ext cx="5029200" cy="886968"/>
          </a:xfrm>
          <a:prstGeom prst="rect">
            <a:avLst/>
          </a:prstGeom>
          <a:noFill/>
          <a:ln/>
        </p:spPr>
        <p:txBody>
          <a:bodyPr wrap="square" rtlCol="0" anchor="t"/>
          <a:lstStyle/>
          <a:p>
            <a:pPr indent="0" marL="0">
              <a:lnSpc>
                <a:spcPct val="105000"/>
              </a:lnSpc>
              <a:buNone/>
            </a:pPr>
            <a:r>
              <a:rPr lang="en-US" sz="1100" dirty="0">
                <a:solidFill>
                  <a:srgbClr val="A7B8B0"/>
                </a:solidFill>
                <a:latin typeface="Arial" pitchFamily="34" charset="0"/>
                <a:ea typeface="Arial" pitchFamily="34" charset="-122"/>
                <a:cs typeface="Arial" pitchFamily="34" charset="-120"/>
              </a:rPr>
              <a:t>Non-custodial: we never hold your keys or funds. Deployed and verified on Stellar mainnet, while most rivals are testnet-only.</a:t>
            </a:r>
            <a:endParaRPr lang="en-US" sz="1100" dirty="0"/>
          </a:p>
        </p:txBody>
      </p:sp>
      <p:sp>
        <p:nvSpPr>
          <p:cNvPr id="14" name="Shape 12"/>
          <p:cNvSpPr/>
          <p:nvPr/>
        </p:nvSpPr>
        <p:spPr>
          <a:xfrm>
            <a:off x="6172200" y="1645920"/>
            <a:ext cx="5468112" cy="1600200"/>
          </a:xfrm>
          <a:prstGeom prst="roundRect">
            <a:avLst>
              <a:gd name="adj" fmla="val 4571"/>
            </a:avLst>
          </a:prstGeom>
          <a:solidFill>
            <a:srgbClr val="11211A"/>
          </a:solidFill>
          <a:ln w="12700">
            <a:solidFill>
              <a:srgbClr val="20402F"/>
            </a:solidFill>
            <a:prstDash val="solid"/>
          </a:ln>
        </p:spPr>
      </p:sp>
      <p:sp>
        <p:nvSpPr>
          <p:cNvPr id="15" name="Text 13"/>
          <p:cNvSpPr/>
          <p:nvPr/>
        </p:nvSpPr>
        <p:spPr>
          <a:xfrm>
            <a:off x="9902952" y="1792224"/>
            <a:ext cx="1554480" cy="274320"/>
          </a:xfrm>
          <a:prstGeom prst="rect">
            <a:avLst/>
          </a:prstGeom>
          <a:noFill/>
          <a:ln/>
        </p:spPr>
        <p:txBody>
          <a:bodyPr wrap="square" rtlCol="0" anchor="ctr"/>
          <a:lstStyle/>
          <a:p>
            <a:pPr algn="r" indent="0" marL="0">
              <a:buNone/>
            </a:pPr>
            <a:r>
              <a:rPr lang="en-US" sz="900" dirty="0">
                <a:solidFill>
                  <a:srgbClr val="34D399"/>
                </a:solidFill>
                <a:latin typeface="Consolas" pitchFamily="34" charset="0"/>
                <a:ea typeface="Consolas" pitchFamily="34" charset="-122"/>
                <a:cs typeface="Consolas" pitchFamily="34" charset="-120"/>
              </a:rPr>
              <a:t>AUDITED</a:t>
            </a:r>
            <a:endParaRPr lang="en-US" sz="900" dirty="0"/>
          </a:p>
        </p:txBody>
      </p:sp>
      <p:sp>
        <p:nvSpPr>
          <p:cNvPr id="16" name="Text 14"/>
          <p:cNvSpPr/>
          <p:nvPr/>
        </p:nvSpPr>
        <p:spPr>
          <a:xfrm>
            <a:off x="6391656" y="1810512"/>
            <a:ext cx="3639312" cy="365760"/>
          </a:xfrm>
          <a:prstGeom prst="rect">
            <a:avLst/>
          </a:prstGeom>
          <a:noFill/>
          <a:ln/>
        </p:spPr>
        <p:txBody>
          <a:bodyPr wrap="square" rtlCol="0" anchor="ctr"/>
          <a:lstStyle/>
          <a:p>
            <a:pPr indent="0" marL="0">
              <a:buNone/>
            </a:pPr>
            <a:r>
              <a:rPr lang="en-US" sz="1450" b="1" dirty="0">
                <a:solidFill>
                  <a:srgbClr val="FFFFFF"/>
                </a:solidFill>
                <a:latin typeface="Arial" pitchFamily="34" charset="0"/>
                <a:ea typeface="Arial" pitchFamily="34" charset="-122"/>
                <a:cs typeface="Arial" pitchFamily="34" charset="-120"/>
              </a:rPr>
              <a:t>Hardened contract</a:t>
            </a:r>
            <a:endParaRPr lang="en-US" sz="1450" dirty="0"/>
          </a:p>
        </p:txBody>
      </p:sp>
      <p:sp>
        <p:nvSpPr>
          <p:cNvPr id="17" name="Text 15"/>
          <p:cNvSpPr/>
          <p:nvPr/>
        </p:nvSpPr>
        <p:spPr>
          <a:xfrm>
            <a:off x="6391656" y="2212848"/>
            <a:ext cx="5029200" cy="886968"/>
          </a:xfrm>
          <a:prstGeom prst="rect">
            <a:avLst/>
          </a:prstGeom>
          <a:noFill/>
          <a:ln/>
        </p:spPr>
        <p:txBody>
          <a:bodyPr wrap="square" rtlCol="0" anchor="t"/>
          <a:lstStyle/>
          <a:p>
            <a:pPr indent="0" marL="0">
              <a:lnSpc>
                <a:spcPct val="105000"/>
              </a:lnSpc>
              <a:buNone/>
            </a:pPr>
            <a:r>
              <a:rPr lang="en-US" sz="1100" dirty="0">
                <a:solidFill>
                  <a:srgbClr val="A7B8B0"/>
                </a:solidFill>
                <a:latin typeface="Arial" pitchFamily="34" charset="0"/>
                <a:ea typeface="Arial" pitchFamily="34" charset="-122"/>
                <a:cs typeface="Arial" pitchFamily="34" charset="-120"/>
              </a:rPr>
              <a:t>We ran an adversarial security review of our own escrow, found and fixed real economic bugs, and verified the fixes on-chain.</a:t>
            </a:r>
            <a:endParaRPr lang="en-US" sz="1100" dirty="0"/>
          </a:p>
        </p:txBody>
      </p:sp>
      <p:sp>
        <p:nvSpPr>
          <p:cNvPr id="18" name="Shape 16"/>
          <p:cNvSpPr/>
          <p:nvPr/>
        </p:nvSpPr>
        <p:spPr>
          <a:xfrm>
            <a:off x="548640" y="3392424"/>
            <a:ext cx="5468112" cy="1600200"/>
          </a:xfrm>
          <a:prstGeom prst="roundRect">
            <a:avLst>
              <a:gd name="adj" fmla="val 4571"/>
            </a:avLst>
          </a:prstGeom>
          <a:solidFill>
            <a:srgbClr val="11211A"/>
          </a:solidFill>
          <a:ln w="12700">
            <a:solidFill>
              <a:srgbClr val="20402F"/>
            </a:solidFill>
            <a:prstDash val="solid"/>
          </a:ln>
        </p:spPr>
      </p:sp>
      <p:sp>
        <p:nvSpPr>
          <p:cNvPr id="19" name="Text 17"/>
          <p:cNvSpPr/>
          <p:nvPr/>
        </p:nvSpPr>
        <p:spPr>
          <a:xfrm>
            <a:off x="4279392" y="3538728"/>
            <a:ext cx="1554480" cy="274320"/>
          </a:xfrm>
          <a:prstGeom prst="rect">
            <a:avLst/>
          </a:prstGeom>
          <a:noFill/>
          <a:ln/>
        </p:spPr>
        <p:txBody>
          <a:bodyPr wrap="square" rtlCol="0" anchor="ctr"/>
          <a:lstStyle/>
          <a:p>
            <a:pPr algn="r" indent="0" marL="0">
              <a:buNone/>
            </a:pPr>
            <a:r>
              <a:rPr lang="en-US" sz="900" dirty="0">
                <a:solidFill>
                  <a:srgbClr val="34D399"/>
                </a:solidFill>
                <a:latin typeface="Consolas" pitchFamily="34" charset="0"/>
                <a:ea typeface="Consolas" pitchFamily="34" charset="-122"/>
                <a:cs typeface="Consolas" pitchFamily="34" charset="-120"/>
              </a:rPr>
              <a:t>MOAT</a:t>
            </a:r>
            <a:endParaRPr lang="en-US" sz="900" dirty="0"/>
          </a:p>
        </p:txBody>
      </p:sp>
      <p:sp>
        <p:nvSpPr>
          <p:cNvPr id="20" name="Text 18"/>
          <p:cNvSpPr/>
          <p:nvPr/>
        </p:nvSpPr>
        <p:spPr>
          <a:xfrm>
            <a:off x="768096" y="3557016"/>
            <a:ext cx="3639312" cy="365760"/>
          </a:xfrm>
          <a:prstGeom prst="rect">
            <a:avLst/>
          </a:prstGeom>
          <a:noFill/>
          <a:ln/>
        </p:spPr>
        <p:txBody>
          <a:bodyPr wrap="square" rtlCol="0" anchor="ctr"/>
          <a:lstStyle/>
          <a:p>
            <a:pPr indent="0" marL="0">
              <a:buNone/>
            </a:pPr>
            <a:r>
              <a:rPr lang="en-US" sz="1450" b="1" dirty="0">
                <a:solidFill>
                  <a:srgbClr val="FFFFFF"/>
                </a:solidFill>
                <a:latin typeface="Arial" pitchFamily="34" charset="0"/>
                <a:ea typeface="Arial" pitchFamily="34" charset="-122"/>
                <a:cs typeface="Arial" pitchFamily="34" charset="-120"/>
              </a:rPr>
              <a:t>Owned reputation = moat</a:t>
            </a:r>
            <a:endParaRPr lang="en-US" sz="1450" dirty="0"/>
          </a:p>
        </p:txBody>
      </p:sp>
      <p:sp>
        <p:nvSpPr>
          <p:cNvPr id="21" name="Text 19"/>
          <p:cNvSpPr/>
          <p:nvPr/>
        </p:nvSpPr>
        <p:spPr>
          <a:xfrm>
            <a:off x="768096" y="3959352"/>
            <a:ext cx="5029200" cy="886968"/>
          </a:xfrm>
          <a:prstGeom prst="rect">
            <a:avLst/>
          </a:prstGeom>
          <a:noFill/>
          <a:ln/>
        </p:spPr>
        <p:txBody>
          <a:bodyPr wrap="square" rtlCol="0" anchor="t"/>
          <a:lstStyle/>
          <a:p>
            <a:pPr indent="0" marL="0">
              <a:lnSpc>
                <a:spcPct val="105000"/>
              </a:lnSpc>
              <a:buNone/>
            </a:pPr>
            <a:r>
              <a:rPr lang="en-US" sz="1100" dirty="0">
                <a:solidFill>
                  <a:srgbClr val="A7B8B0"/>
                </a:solidFill>
                <a:latin typeface="Arial" pitchFamily="34" charset="0"/>
                <a:ea typeface="Arial" pitchFamily="34" charset="-122"/>
                <a:cs typeface="Arial" pitchFamily="34" charset="-120"/>
              </a:rPr>
              <a:t>Reputation is portable and user-owned, a network effect platforms capture and we deliberately do not.</a:t>
            </a:r>
            <a:endParaRPr lang="en-US" sz="1100" dirty="0"/>
          </a:p>
        </p:txBody>
      </p:sp>
      <p:sp>
        <p:nvSpPr>
          <p:cNvPr id="22" name="Shape 20"/>
          <p:cNvSpPr/>
          <p:nvPr/>
        </p:nvSpPr>
        <p:spPr>
          <a:xfrm>
            <a:off x="6172200" y="3392424"/>
            <a:ext cx="5468112" cy="1600200"/>
          </a:xfrm>
          <a:prstGeom prst="roundRect">
            <a:avLst>
              <a:gd name="adj" fmla="val 4571"/>
            </a:avLst>
          </a:prstGeom>
          <a:solidFill>
            <a:srgbClr val="11211A"/>
          </a:solidFill>
          <a:ln w="12700">
            <a:solidFill>
              <a:srgbClr val="20402F"/>
            </a:solidFill>
            <a:prstDash val="solid"/>
          </a:ln>
        </p:spPr>
      </p:sp>
      <p:sp>
        <p:nvSpPr>
          <p:cNvPr id="23" name="Text 21"/>
          <p:cNvSpPr/>
          <p:nvPr/>
        </p:nvSpPr>
        <p:spPr>
          <a:xfrm>
            <a:off x="9902952" y="3538728"/>
            <a:ext cx="1554480" cy="274320"/>
          </a:xfrm>
          <a:prstGeom prst="rect">
            <a:avLst/>
          </a:prstGeom>
          <a:noFill/>
          <a:ln/>
        </p:spPr>
        <p:txBody>
          <a:bodyPr wrap="square" rtlCol="0" anchor="ctr"/>
          <a:lstStyle/>
          <a:p>
            <a:pPr algn="r" indent="0" marL="0">
              <a:buNone/>
            </a:pPr>
            <a:r>
              <a:rPr lang="en-US" sz="900" dirty="0">
                <a:solidFill>
                  <a:srgbClr val="34D399"/>
                </a:solidFill>
                <a:latin typeface="Consolas" pitchFamily="34" charset="0"/>
                <a:ea typeface="Consolas" pitchFamily="34" charset="-122"/>
                <a:cs typeface="Consolas" pitchFamily="34" charset="-120"/>
              </a:rPr>
              <a:t>BUSINESS</a:t>
            </a:r>
            <a:endParaRPr lang="en-US" sz="900" dirty="0"/>
          </a:p>
        </p:txBody>
      </p:sp>
      <p:sp>
        <p:nvSpPr>
          <p:cNvPr id="24" name="Text 22"/>
          <p:cNvSpPr/>
          <p:nvPr/>
        </p:nvSpPr>
        <p:spPr>
          <a:xfrm>
            <a:off x="6391656" y="3557016"/>
            <a:ext cx="3639312" cy="365760"/>
          </a:xfrm>
          <a:prstGeom prst="rect">
            <a:avLst/>
          </a:prstGeom>
          <a:noFill/>
          <a:ln/>
        </p:spPr>
        <p:txBody>
          <a:bodyPr wrap="square" rtlCol="0" anchor="ctr"/>
          <a:lstStyle/>
          <a:p>
            <a:pPr indent="0" marL="0">
              <a:buNone/>
            </a:pPr>
            <a:r>
              <a:rPr lang="en-US" sz="1450" b="1" dirty="0">
                <a:solidFill>
                  <a:srgbClr val="FFFFFF"/>
                </a:solidFill>
                <a:latin typeface="Arial" pitchFamily="34" charset="0"/>
                <a:ea typeface="Arial" pitchFamily="34" charset="-122"/>
                <a:cs typeface="Arial" pitchFamily="34" charset="-120"/>
              </a:rPr>
              <a:t>Fair revenue model</a:t>
            </a:r>
            <a:endParaRPr lang="en-US" sz="1450" dirty="0"/>
          </a:p>
        </p:txBody>
      </p:sp>
      <p:sp>
        <p:nvSpPr>
          <p:cNvPr id="25" name="Text 23"/>
          <p:cNvSpPr/>
          <p:nvPr/>
        </p:nvSpPr>
        <p:spPr>
          <a:xfrm>
            <a:off x="6391656" y="3959352"/>
            <a:ext cx="5029200" cy="886968"/>
          </a:xfrm>
          <a:prstGeom prst="rect">
            <a:avLst/>
          </a:prstGeom>
          <a:noFill/>
          <a:ln/>
        </p:spPr>
        <p:txBody>
          <a:bodyPr wrap="square" rtlCol="0" anchor="t"/>
          <a:lstStyle/>
          <a:p>
            <a:pPr indent="0" marL="0">
              <a:lnSpc>
                <a:spcPct val="105000"/>
              </a:lnSpc>
              <a:buNone/>
            </a:pPr>
            <a:r>
              <a:rPr lang="en-US" sz="1100" dirty="0">
                <a:solidFill>
                  <a:srgbClr val="A7B8B0"/>
                </a:solidFill>
                <a:latin typeface="Arial" pitchFamily="34" charset="0"/>
                <a:ea typeface="Arial" pitchFamily="34" charset="-122"/>
                <a:cs typeface="Arial" pitchFamily="34" charset="-120"/>
              </a:rPr>
              <a:t>A small protocol fee on protected sends only, a fraction of Upwork/Fiverr 10-20%. Everyday wallet use stays free.</a:t>
            </a:r>
            <a:endParaRPr lang="en-US" sz="1100" dirty="0"/>
          </a:p>
        </p:txBody>
      </p:sp>
      <p:sp>
        <p:nvSpPr>
          <p:cNvPr id="26" name="Shape 24"/>
          <p:cNvSpPr/>
          <p:nvPr/>
        </p:nvSpPr>
        <p:spPr>
          <a:xfrm>
            <a:off x="548640" y="5349240"/>
            <a:ext cx="11091672" cy="566928"/>
          </a:xfrm>
          <a:prstGeom prst="roundRect">
            <a:avLst>
              <a:gd name="adj" fmla="val 16129"/>
            </a:avLst>
          </a:prstGeom>
          <a:solidFill>
            <a:srgbClr val="14281F"/>
          </a:solidFill>
          <a:ln w="12700">
            <a:solidFill>
              <a:srgbClr val="2FBF87"/>
            </a:solidFill>
            <a:prstDash val="solid"/>
          </a:ln>
        </p:spPr>
      </p:sp>
      <p:sp>
        <p:nvSpPr>
          <p:cNvPr id="27" name="Text 25"/>
          <p:cNvSpPr/>
          <p:nvPr/>
        </p:nvSpPr>
        <p:spPr>
          <a:xfrm>
            <a:off x="731520" y="5349240"/>
            <a:ext cx="10698480" cy="566928"/>
          </a:xfrm>
          <a:prstGeom prst="rect">
            <a:avLst/>
          </a:prstGeom>
          <a:noFill/>
          <a:ln/>
        </p:spPr>
        <p:txBody>
          <a:bodyPr wrap="square" rtlCol="0" anchor="ctr"/>
          <a:lstStyle/>
          <a:p>
            <a:pPr algn="ctr" indent="0" marL="0">
              <a:buNone/>
            </a:pPr>
            <a:r>
              <a:rPr lang="en-US" sz="1250" dirty="0">
                <a:solidFill>
                  <a:srgbClr val="34D399"/>
                </a:solidFill>
                <a:latin typeface="Consolas" pitchFamily="34" charset="0"/>
                <a:ea typeface="Consolas" pitchFamily="34" charset="-122"/>
                <a:cs typeface="Consolas" pitchFamily="34" charset="-120"/>
              </a:rPr>
              <a:t>The trust stack:   Recipient bond   ·   On-chain reputation   ·   AI Risk Lens   ·   Wallet-linked KYC</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512"/>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FBF87"/>
          </a:solidFill>
          <a:ln/>
        </p:spPr>
      </p:sp>
      <p:sp>
        <p:nvSpPr>
          <p:cNvPr id="3" name="Shape 1"/>
          <p:cNvSpPr/>
          <p:nvPr/>
        </p:nvSpPr>
        <p:spPr>
          <a:xfrm>
            <a:off x="548640" y="365760"/>
            <a:ext cx="310896" cy="310896"/>
          </a:xfrm>
          <a:prstGeom prst="roundRect">
            <a:avLst>
              <a:gd name="adj" fmla="val 17647"/>
            </a:avLst>
          </a:prstGeom>
          <a:solidFill>
            <a:srgbClr val="2FBF87"/>
          </a:solidFill>
          <a:ln/>
        </p:spPr>
      </p:sp>
      <p:sp>
        <p:nvSpPr>
          <p:cNvPr id="4" name="Text 2"/>
          <p:cNvSpPr/>
          <p:nvPr/>
        </p:nvSpPr>
        <p:spPr>
          <a:xfrm>
            <a:off x="548640" y="365760"/>
            <a:ext cx="310896" cy="310896"/>
          </a:xfrm>
          <a:prstGeom prst="rect">
            <a:avLst/>
          </a:prstGeom>
          <a:noFill/>
          <a:ln/>
        </p:spPr>
        <p:txBody>
          <a:bodyPr wrap="square" rtlCol="0" anchor="ctr"/>
          <a:lstStyle/>
          <a:p>
            <a:pPr algn="ctr" indent="0" marL="0">
              <a:buNone/>
            </a:pPr>
            <a:r>
              <a:rPr lang="en-US" sz="1500" b="1" dirty="0">
                <a:solidFill>
                  <a:srgbClr val="0B1512"/>
                </a:solidFill>
                <a:latin typeface="Arial" pitchFamily="34" charset="0"/>
                <a:ea typeface="Arial" pitchFamily="34" charset="-122"/>
                <a:cs typeface="Arial" pitchFamily="34" charset="-120"/>
              </a:rPr>
              <a:t>P</a:t>
            </a:r>
            <a:endParaRPr lang="en-US" sz="1500" dirty="0"/>
          </a:p>
        </p:txBody>
      </p:sp>
      <p:sp>
        <p:nvSpPr>
          <p:cNvPr id="5" name="Text 3"/>
          <p:cNvSpPr/>
          <p:nvPr/>
        </p:nvSpPr>
        <p:spPr>
          <a:xfrm>
            <a:off x="932688" y="365760"/>
            <a:ext cx="2743200" cy="310896"/>
          </a:xfrm>
          <a:prstGeom prst="rect">
            <a:avLst/>
          </a:prstGeom>
          <a:noFill/>
          <a:ln/>
        </p:spPr>
        <p:txBody>
          <a:bodyPr wrap="square" rtlCol="0" anchor="ctr"/>
          <a:lstStyle/>
          <a:p>
            <a:pPr indent="0" marL="0">
              <a:buNone/>
            </a:pPr>
            <a:r>
              <a:rPr lang="en-US" sz="1500" b="1" spc="200" kern="0" dirty="0">
                <a:solidFill>
                  <a:srgbClr val="FFFFFF"/>
                </a:solidFill>
                <a:latin typeface="Arial" pitchFamily="34" charset="0"/>
                <a:ea typeface="Arial" pitchFamily="34" charset="-122"/>
                <a:cs typeface="Arial" pitchFamily="34" charset="-120"/>
              </a:rPr>
              <a:t>PACTA</a:t>
            </a:r>
            <a:endParaRPr lang="en-US" sz="1500" dirty="0"/>
          </a:p>
        </p:txBody>
      </p:sp>
      <p:sp>
        <p:nvSpPr>
          <p:cNvPr id="6" name="Text 4"/>
          <p:cNvSpPr/>
          <p:nvPr/>
        </p:nvSpPr>
        <p:spPr>
          <a:xfrm>
            <a:off x="10271455" y="365760"/>
            <a:ext cx="1371600" cy="310896"/>
          </a:xfrm>
          <a:prstGeom prst="rect">
            <a:avLst/>
          </a:prstGeom>
          <a:noFill/>
          <a:ln/>
        </p:spPr>
        <p:txBody>
          <a:bodyPr wrap="square" rtlCol="0" anchor="ctr"/>
          <a:lstStyle/>
          <a:p>
            <a:pPr algn="r" indent="0" marL="0">
              <a:buNone/>
            </a:pPr>
            <a:r>
              <a:rPr lang="en-US" sz="1100" dirty="0">
                <a:solidFill>
                  <a:srgbClr val="A7B8B0"/>
                </a:solidFill>
                <a:latin typeface="Consolas" pitchFamily="34" charset="0"/>
                <a:ea typeface="Consolas" pitchFamily="34" charset="-122"/>
                <a:cs typeface="Consolas" pitchFamily="34" charset="-120"/>
              </a:rPr>
              <a:t>05 / 07</a:t>
            </a:r>
            <a:endParaRPr lang="en-US" sz="1100" dirty="0"/>
          </a:p>
        </p:txBody>
      </p:sp>
      <p:sp>
        <p:nvSpPr>
          <p:cNvPr id="7" name="Text 5"/>
          <p:cNvSpPr/>
          <p:nvPr/>
        </p:nvSpPr>
        <p:spPr>
          <a:xfrm>
            <a:off x="548640" y="6437376"/>
            <a:ext cx="8229600" cy="274320"/>
          </a:xfrm>
          <a:prstGeom prst="rect">
            <a:avLst/>
          </a:prstGeom>
          <a:noFill/>
          <a:ln/>
        </p:spPr>
        <p:txBody>
          <a:bodyPr wrap="square" rtlCol="0" anchor="ctr"/>
          <a:lstStyle/>
          <a:p>
            <a:pPr indent="0" marL="0">
              <a:buNone/>
            </a:pPr>
            <a:r>
              <a:rPr lang="en-US" sz="900" dirty="0">
                <a:solidFill>
                  <a:srgbClr val="A7B8B0"/>
                </a:solidFill>
                <a:latin typeface="Consolas" pitchFamily="34" charset="0"/>
                <a:ea typeface="Consolas" pitchFamily="34" charset="-122"/>
                <a:cs typeface="Consolas" pitchFamily="34" charset="-120"/>
              </a:rPr>
              <a:t>getpacta.app   ·   Trust, written in code.</a:t>
            </a:r>
            <a:endParaRPr lang="en-US" sz="900" dirty="0"/>
          </a:p>
        </p:txBody>
      </p:sp>
      <p:sp>
        <p:nvSpPr>
          <p:cNvPr id="8" name="Text 6"/>
          <p:cNvSpPr/>
          <p:nvPr/>
        </p:nvSpPr>
        <p:spPr>
          <a:xfrm>
            <a:off x="548640" y="868680"/>
            <a:ext cx="11064240" cy="548640"/>
          </a:xfrm>
          <a:prstGeom prst="rect">
            <a:avLst/>
          </a:prstGeom>
          <a:noFill/>
          <a:ln/>
        </p:spPr>
        <p:txBody>
          <a:bodyPr wrap="square" rtlCol="0" anchor="ctr"/>
          <a:lstStyle/>
          <a:p>
            <a:pPr indent="0" marL="0">
              <a:buNone/>
            </a:pPr>
            <a:r>
              <a:rPr lang="en-US" sz="2600" b="1" dirty="0">
                <a:solidFill>
                  <a:srgbClr val="FFFFFF"/>
                </a:solidFill>
                <a:latin typeface="Arial" pitchFamily="34" charset="0"/>
                <a:ea typeface="Arial" pitchFamily="34" charset="-122"/>
                <a:cs typeface="Arial" pitchFamily="34" charset="-120"/>
              </a:rPr>
              <a:t>Experience PACTA: Live on Mainnet</a:t>
            </a:r>
            <a:endParaRPr lang="en-US" sz="2600" dirty="0"/>
          </a:p>
        </p:txBody>
      </p:sp>
      <p:sp>
        <p:nvSpPr>
          <p:cNvPr id="9" name="Shape 7"/>
          <p:cNvSpPr/>
          <p:nvPr/>
        </p:nvSpPr>
        <p:spPr>
          <a:xfrm>
            <a:off x="566928" y="1417320"/>
            <a:ext cx="822960" cy="41148"/>
          </a:xfrm>
          <a:prstGeom prst="rect">
            <a:avLst/>
          </a:prstGeom>
          <a:solidFill>
            <a:srgbClr val="2FBF87"/>
          </a:solidFill>
          <a:ln/>
        </p:spPr>
      </p:sp>
      <p:sp>
        <p:nvSpPr>
          <p:cNvPr id="10" name="Shape 8"/>
          <p:cNvSpPr/>
          <p:nvPr/>
        </p:nvSpPr>
        <p:spPr>
          <a:xfrm>
            <a:off x="548640" y="1691640"/>
            <a:ext cx="7223760" cy="4297680"/>
          </a:xfrm>
          <a:prstGeom prst="roundRect">
            <a:avLst>
              <a:gd name="adj" fmla="val 1702"/>
            </a:avLst>
          </a:prstGeom>
          <a:solidFill>
            <a:srgbClr val="11211A"/>
          </a:solidFill>
          <a:ln w="12700">
            <a:solidFill>
              <a:srgbClr val="20402F"/>
            </a:solidFill>
            <a:prstDash val="solid"/>
          </a:ln>
        </p:spPr>
      </p:sp>
      <p:sp>
        <p:nvSpPr>
          <p:cNvPr id="11" name="Text 9"/>
          <p:cNvSpPr/>
          <p:nvPr/>
        </p:nvSpPr>
        <p:spPr>
          <a:xfrm>
            <a:off x="777240" y="1920240"/>
            <a:ext cx="4572000" cy="320040"/>
          </a:xfrm>
          <a:prstGeom prst="rect">
            <a:avLst/>
          </a:prstGeom>
          <a:noFill/>
          <a:ln/>
        </p:spPr>
        <p:txBody>
          <a:bodyPr wrap="square" rtlCol="0" anchor="ctr"/>
          <a:lstStyle/>
          <a:p>
            <a:pPr indent="0" marL="0">
              <a:buNone/>
            </a:pPr>
            <a:r>
              <a:rPr lang="en-US" sz="1000" dirty="0">
                <a:solidFill>
                  <a:srgbClr val="A7B8B0"/>
                </a:solidFill>
                <a:latin typeface="Consolas" pitchFamily="34" charset="0"/>
                <a:ea typeface="Consolas" pitchFamily="34" charset="-122"/>
                <a:cs typeface="Consolas" pitchFamily="34" charset="-120"/>
              </a:rPr>
              <a:t>APAC STELLAR GRAND FINALE</a:t>
            </a:r>
            <a:endParaRPr lang="en-US" sz="1000" dirty="0"/>
          </a:p>
        </p:txBody>
      </p:sp>
      <p:sp>
        <p:nvSpPr>
          <p:cNvPr id="12" name="Text 10"/>
          <p:cNvSpPr/>
          <p:nvPr/>
        </p:nvSpPr>
        <p:spPr>
          <a:xfrm>
            <a:off x="777240" y="2286000"/>
            <a:ext cx="6766560" cy="914400"/>
          </a:xfrm>
          <a:prstGeom prst="rect">
            <a:avLst/>
          </a:prstGeom>
          <a:noFill/>
          <a:ln/>
        </p:spPr>
        <p:txBody>
          <a:bodyPr wrap="square" rtlCol="0" anchor="ctr"/>
          <a:lstStyle/>
          <a:p>
            <a:pPr indent="0" marL="0">
              <a:buNone/>
            </a:pPr>
            <a:r>
              <a:rPr lang="en-US" sz="4600" b="1" dirty="0">
                <a:solidFill>
                  <a:srgbClr val="34D399"/>
                </a:solidFill>
                <a:latin typeface="Arial" pitchFamily="34" charset="0"/>
                <a:ea typeface="Arial" pitchFamily="34" charset="-122"/>
                <a:cs typeface="Arial" pitchFamily="34" charset="-120"/>
              </a:rPr>
              <a:t>getpacta.app</a:t>
            </a:r>
            <a:endParaRPr lang="en-US" sz="4600" dirty="0"/>
          </a:p>
        </p:txBody>
      </p:sp>
      <p:sp>
        <p:nvSpPr>
          <p:cNvPr id="13" name="Text 11"/>
          <p:cNvSpPr/>
          <p:nvPr/>
        </p:nvSpPr>
        <p:spPr>
          <a:xfrm>
            <a:off x="777240" y="3246120"/>
            <a:ext cx="6766560" cy="640080"/>
          </a:xfrm>
          <a:prstGeom prst="rect">
            <a:avLst/>
          </a:prstGeom>
          <a:noFill/>
          <a:ln/>
        </p:spPr>
        <p:txBody>
          <a:bodyPr wrap="square" rtlCol="0" anchor="ctr"/>
          <a:lstStyle/>
          <a:p>
            <a:pPr indent="0" marL="0">
              <a:lnSpc>
                <a:spcPct val="110000"/>
              </a:lnSpc>
              <a:buNone/>
            </a:pPr>
            <a:r>
              <a:rPr lang="en-US" sz="1300" dirty="0">
                <a:solidFill>
                  <a:srgbClr val="A7B8B0"/>
                </a:solidFill>
                <a:latin typeface="Arial" pitchFamily="34" charset="0"/>
                <a:ea typeface="Arial" pitchFamily="34" charset="-122"/>
                <a:cs typeface="Arial" pitchFamily="34" charset="-120"/>
              </a:rPr>
              <a:t>A fully functional, non-custodial money app with protected escrow, live on Stellar mainnet.</a:t>
            </a:r>
            <a:endParaRPr lang="en-US" sz="1300" dirty="0"/>
          </a:p>
        </p:txBody>
      </p:sp>
      <p:sp>
        <p:nvSpPr>
          <p:cNvPr id="14" name="Shape 12"/>
          <p:cNvSpPr/>
          <p:nvPr/>
        </p:nvSpPr>
        <p:spPr>
          <a:xfrm>
            <a:off x="777240" y="3977640"/>
            <a:ext cx="6766560" cy="566928"/>
          </a:xfrm>
          <a:prstGeom prst="roundRect">
            <a:avLst>
              <a:gd name="adj" fmla="val 9677"/>
            </a:avLst>
          </a:prstGeom>
          <a:solidFill>
            <a:srgbClr val="0A1712"/>
          </a:solidFill>
          <a:ln w="12700">
            <a:solidFill>
              <a:srgbClr val="20402F"/>
            </a:solidFill>
            <a:prstDash val="solid"/>
          </a:ln>
        </p:spPr>
      </p:sp>
      <p:sp>
        <p:nvSpPr>
          <p:cNvPr id="15" name="Text 13"/>
          <p:cNvSpPr/>
          <p:nvPr/>
        </p:nvSpPr>
        <p:spPr>
          <a:xfrm>
            <a:off x="914400" y="3977640"/>
            <a:ext cx="6492240" cy="566928"/>
          </a:xfrm>
          <a:prstGeom prst="rect">
            <a:avLst/>
          </a:prstGeom>
          <a:noFill/>
          <a:ln/>
        </p:spPr>
        <p:txBody>
          <a:bodyPr wrap="square" rtlCol="0" anchor="ctr"/>
          <a:lstStyle/>
          <a:p>
            <a:pPr indent="0" marL="0">
              <a:buNone/>
            </a:pPr>
            <a:r>
              <a:rPr lang="en-US" sz="950" dirty="0">
                <a:solidFill>
                  <a:srgbClr val="34D399"/>
                </a:solidFill>
                <a:latin typeface="Consolas" pitchFamily="34" charset="0"/>
                <a:ea typeface="Consolas" pitchFamily="34" charset="-122"/>
                <a:cs typeface="Consolas" pitchFamily="34" charset="-120"/>
              </a:rPr>
              <a:t>Contract (mainnet): CBPA2JBUH5ASTCSP63QPSHGI6HD73YJGQS3SMJHLVZS2PG5GRSOTLEON</a:t>
            </a:r>
            <a:endParaRPr lang="en-US" sz="950" dirty="0"/>
          </a:p>
        </p:txBody>
      </p:sp>
      <p:sp>
        <p:nvSpPr>
          <p:cNvPr id="16" name="Shape 14"/>
          <p:cNvSpPr/>
          <p:nvPr/>
        </p:nvSpPr>
        <p:spPr>
          <a:xfrm>
            <a:off x="777240" y="4754880"/>
            <a:ext cx="1550822" cy="384048"/>
          </a:xfrm>
          <a:prstGeom prst="roundRect">
            <a:avLst>
              <a:gd name="adj" fmla="val 50000"/>
            </a:avLst>
          </a:prstGeom>
          <a:solidFill>
            <a:srgbClr val="14281F"/>
          </a:solidFill>
          <a:ln w="12700">
            <a:solidFill>
              <a:srgbClr val="2FBF87"/>
            </a:solidFill>
            <a:prstDash val="solid"/>
          </a:ln>
        </p:spPr>
      </p:sp>
      <p:sp>
        <p:nvSpPr>
          <p:cNvPr id="17" name="Text 15"/>
          <p:cNvSpPr/>
          <p:nvPr/>
        </p:nvSpPr>
        <p:spPr>
          <a:xfrm>
            <a:off x="777240" y="4754880"/>
            <a:ext cx="1550822" cy="384048"/>
          </a:xfrm>
          <a:prstGeom prst="rect">
            <a:avLst/>
          </a:prstGeom>
          <a:noFill/>
          <a:ln/>
        </p:spPr>
        <p:txBody>
          <a:bodyPr wrap="square" rtlCol="0" anchor="ctr"/>
          <a:lstStyle/>
          <a:p>
            <a:pPr algn="ctr" indent="0" marL="0">
              <a:buNone/>
            </a:pPr>
            <a:r>
              <a:rPr lang="en-US" sz="1100" dirty="0">
                <a:solidFill>
                  <a:srgbClr val="34D399"/>
                </a:solidFill>
                <a:latin typeface="Consolas" pitchFamily="34" charset="0"/>
                <a:ea typeface="Consolas" pitchFamily="34" charset="-122"/>
                <a:cs typeface="Consolas" pitchFamily="34" charset="-120"/>
              </a:rPr>
              <a:t>Non-custodial</a:t>
            </a:r>
            <a:endParaRPr lang="en-US" sz="1100" dirty="0"/>
          </a:p>
        </p:txBody>
      </p:sp>
      <p:sp>
        <p:nvSpPr>
          <p:cNvPr id="18" name="Shape 16"/>
          <p:cNvSpPr/>
          <p:nvPr/>
        </p:nvSpPr>
        <p:spPr>
          <a:xfrm>
            <a:off x="2529230" y="4754880"/>
            <a:ext cx="1382573" cy="384048"/>
          </a:xfrm>
          <a:prstGeom prst="roundRect">
            <a:avLst>
              <a:gd name="adj" fmla="val 50000"/>
            </a:avLst>
          </a:prstGeom>
          <a:solidFill>
            <a:srgbClr val="14281F"/>
          </a:solidFill>
          <a:ln w="12700">
            <a:solidFill>
              <a:srgbClr val="2FBF87"/>
            </a:solidFill>
            <a:prstDash val="solid"/>
          </a:ln>
        </p:spPr>
      </p:sp>
      <p:sp>
        <p:nvSpPr>
          <p:cNvPr id="19" name="Text 17"/>
          <p:cNvSpPr/>
          <p:nvPr/>
        </p:nvSpPr>
        <p:spPr>
          <a:xfrm>
            <a:off x="2529230" y="4754880"/>
            <a:ext cx="1382573" cy="384048"/>
          </a:xfrm>
          <a:prstGeom prst="rect">
            <a:avLst/>
          </a:prstGeom>
          <a:noFill/>
          <a:ln/>
        </p:spPr>
        <p:txBody>
          <a:bodyPr wrap="square" rtlCol="0" anchor="ctr"/>
          <a:lstStyle/>
          <a:p>
            <a:pPr algn="ctr" indent="0" marL="0">
              <a:buNone/>
            </a:pPr>
            <a:r>
              <a:rPr lang="en-US" sz="1100" dirty="0">
                <a:solidFill>
                  <a:srgbClr val="34D399"/>
                </a:solidFill>
                <a:latin typeface="Consolas" pitchFamily="34" charset="0"/>
                <a:ea typeface="Consolas" pitchFamily="34" charset="-122"/>
                <a:cs typeface="Consolas" pitchFamily="34" charset="-120"/>
              </a:rPr>
              <a:t>DEX Convert</a:t>
            </a:r>
            <a:endParaRPr lang="en-US" sz="1100" dirty="0"/>
          </a:p>
        </p:txBody>
      </p:sp>
      <p:sp>
        <p:nvSpPr>
          <p:cNvPr id="20" name="Shape 18"/>
          <p:cNvSpPr/>
          <p:nvPr/>
        </p:nvSpPr>
        <p:spPr>
          <a:xfrm>
            <a:off x="4112971" y="4754880"/>
            <a:ext cx="1550822" cy="384048"/>
          </a:xfrm>
          <a:prstGeom prst="roundRect">
            <a:avLst>
              <a:gd name="adj" fmla="val 50000"/>
            </a:avLst>
          </a:prstGeom>
          <a:solidFill>
            <a:srgbClr val="14281F"/>
          </a:solidFill>
          <a:ln w="12700">
            <a:solidFill>
              <a:srgbClr val="2FBF87"/>
            </a:solidFill>
            <a:prstDash val="solid"/>
          </a:ln>
        </p:spPr>
      </p:sp>
      <p:sp>
        <p:nvSpPr>
          <p:cNvPr id="21" name="Text 19"/>
          <p:cNvSpPr/>
          <p:nvPr/>
        </p:nvSpPr>
        <p:spPr>
          <a:xfrm>
            <a:off x="4112971" y="4754880"/>
            <a:ext cx="1550822" cy="384048"/>
          </a:xfrm>
          <a:prstGeom prst="rect">
            <a:avLst/>
          </a:prstGeom>
          <a:noFill/>
          <a:ln/>
        </p:spPr>
        <p:txBody>
          <a:bodyPr wrap="square" rtlCol="0" anchor="ctr"/>
          <a:lstStyle/>
          <a:p>
            <a:pPr algn="ctr" indent="0" marL="0">
              <a:buNone/>
            </a:pPr>
            <a:r>
              <a:rPr lang="en-US" sz="1100" dirty="0">
                <a:solidFill>
                  <a:srgbClr val="34D399"/>
                </a:solidFill>
                <a:latin typeface="Consolas" pitchFamily="34" charset="0"/>
                <a:ea typeface="Consolas" pitchFamily="34" charset="-122"/>
                <a:cs typeface="Consolas" pitchFamily="34" charset="-120"/>
              </a:rPr>
              <a:t>Works offline</a:t>
            </a:r>
            <a:endParaRPr lang="en-US" sz="1100" dirty="0"/>
          </a:p>
        </p:txBody>
      </p:sp>
      <p:sp>
        <p:nvSpPr>
          <p:cNvPr id="22" name="Text 20"/>
          <p:cNvSpPr/>
          <p:nvPr/>
        </p:nvSpPr>
        <p:spPr>
          <a:xfrm>
            <a:off x="777240" y="5440680"/>
            <a:ext cx="6766560" cy="365760"/>
          </a:xfrm>
          <a:prstGeom prst="rect">
            <a:avLst/>
          </a:prstGeom>
          <a:noFill/>
          <a:ln/>
        </p:spPr>
        <p:txBody>
          <a:bodyPr wrap="square" rtlCol="0" anchor="ctr"/>
          <a:lstStyle/>
          <a:p>
            <a:pPr indent="0" marL="0">
              <a:buNone/>
            </a:pPr>
            <a:r>
              <a:rPr lang="en-US" sz="1200" b="1" dirty="0">
                <a:solidFill>
                  <a:srgbClr val="FFFFFF"/>
                </a:solidFill>
                <a:latin typeface="Arial" pitchFamily="34" charset="0"/>
                <a:ea typeface="Arial" pitchFamily="34" charset="-122"/>
                <a:cs typeface="Arial" pitchFamily="34" charset="-120"/>
              </a:rPr>
              <a:t>Built by Zarrah Exekiel Valles &amp; Jecyn Vallirie Turbanos</a:t>
            </a:r>
            <a:pPr indent="0" marL="0">
              <a:buNone/>
            </a:pPr>
            <a:r>
              <a:rPr lang="en-US" sz="1200" dirty="0">
                <a:solidFill>
                  <a:srgbClr val="A7B8B0"/>
                </a:solidFill>
                <a:latin typeface="Arial" pitchFamily="34" charset="0"/>
                <a:ea typeface="Arial" pitchFamily="34" charset="-122"/>
                <a:cs typeface="Arial" pitchFamily="34" charset="-120"/>
              </a:rPr>
              <a:t>   ·   Philippines</a:t>
            </a:r>
            <a:endParaRPr lang="en-US" sz="1200" dirty="0"/>
          </a:p>
        </p:txBody>
      </p:sp>
      <p:sp>
        <p:nvSpPr>
          <p:cNvPr id="23" name="Shape 21"/>
          <p:cNvSpPr/>
          <p:nvPr/>
        </p:nvSpPr>
        <p:spPr>
          <a:xfrm>
            <a:off x="8229600" y="1691640"/>
            <a:ext cx="3410712" cy="4297680"/>
          </a:xfrm>
          <a:prstGeom prst="roundRect">
            <a:avLst>
              <a:gd name="adj" fmla="val 2145"/>
            </a:avLst>
          </a:prstGeom>
          <a:solidFill>
            <a:srgbClr val="11211A"/>
          </a:solidFill>
          <a:ln w="12700">
            <a:solidFill>
              <a:srgbClr val="2FBF87"/>
            </a:solidFill>
            <a:prstDash val="solid"/>
          </a:ln>
        </p:spPr>
      </p:sp>
      <p:sp>
        <p:nvSpPr>
          <p:cNvPr id="24" name="Text 22"/>
          <p:cNvSpPr/>
          <p:nvPr/>
        </p:nvSpPr>
        <p:spPr>
          <a:xfrm>
            <a:off x="8229600" y="1965960"/>
            <a:ext cx="3410712" cy="365760"/>
          </a:xfrm>
          <a:prstGeom prst="rect">
            <a:avLst/>
          </a:prstGeom>
          <a:noFill/>
          <a:ln/>
        </p:spPr>
        <p:txBody>
          <a:bodyPr wrap="square" rtlCol="0" anchor="ctr"/>
          <a:lstStyle/>
          <a:p>
            <a:pPr algn="ctr" indent="0" marL="0">
              <a:buNone/>
            </a:pPr>
            <a:r>
              <a:rPr lang="en-US" sz="1200" dirty="0">
                <a:solidFill>
                  <a:srgbClr val="34D399"/>
                </a:solidFill>
                <a:latin typeface="Consolas" pitchFamily="34" charset="0"/>
                <a:ea typeface="Consolas" pitchFamily="34" charset="-122"/>
                <a:cs typeface="Consolas" pitchFamily="34" charset="-120"/>
              </a:rPr>
              <a:t>SCAN TO TRY IT NOW</a:t>
            </a:r>
            <a:endParaRPr lang="en-US" sz="1200" dirty="0"/>
          </a:p>
        </p:txBody>
      </p:sp>
      <p:pic>
        <p:nvPicPr>
          <p:cNvPr id="25" name="Image 0" descr="preencoded.png">    </p:cNvPr>
          <p:cNvPicPr>
            <a:picLocks noChangeAspect="1"/>
          </p:cNvPicPr>
          <p:nvPr/>
        </p:nvPicPr>
        <p:blipFill>
          <a:blip r:embed="rId1"/>
          <a:stretch>
            <a:fillRect/>
          </a:stretch>
        </p:blipFill>
        <p:spPr>
          <a:xfrm>
            <a:off x="9015984" y="2468880"/>
            <a:ext cx="1828800" cy="1828800"/>
          </a:xfrm>
          <a:prstGeom prst="rect">
            <a:avLst/>
          </a:prstGeom>
        </p:spPr>
      </p:pic>
      <p:sp>
        <p:nvSpPr>
          <p:cNvPr id="26" name="Text 23"/>
          <p:cNvSpPr/>
          <p:nvPr/>
        </p:nvSpPr>
        <p:spPr>
          <a:xfrm>
            <a:off x="8229600" y="4480560"/>
            <a:ext cx="3410712" cy="365760"/>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getpacta.app</a:t>
            </a:r>
            <a:endParaRPr lang="en-US" sz="1400" dirty="0"/>
          </a:p>
        </p:txBody>
      </p:sp>
      <p:sp>
        <p:nvSpPr>
          <p:cNvPr id="27" name="Text 24"/>
          <p:cNvSpPr/>
          <p:nvPr/>
        </p:nvSpPr>
        <p:spPr>
          <a:xfrm>
            <a:off x="8229600" y="4892040"/>
            <a:ext cx="3410712" cy="365760"/>
          </a:xfrm>
          <a:prstGeom prst="rect">
            <a:avLst/>
          </a:prstGeom>
          <a:noFill/>
          <a:ln/>
        </p:spPr>
        <p:txBody>
          <a:bodyPr wrap="square" rtlCol="0" anchor="ctr"/>
          <a:lstStyle/>
          <a:p>
            <a:pPr algn="ctr" indent="0" marL="0">
              <a:buNone/>
            </a:pPr>
            <a:r>
              <a:rPr lang="en-US" sz="1200" i="1" dirty="0">
                <a:solidFill>
                  <a:srgbClr val="A7B8B0"/>
                </a:solidFill>
                <a:latin typeface="Arial" pitchFamily="34" charset="0"/>
                <a:ea typeface="Arial" pitchFamily="34" charset="-122"/>
                <a:cs typeface="Arial" pitchFamily="34" charset="-120"/>
              </a:rPr>
              <a:t>Trust, written in code.</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512"/>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FBF87"/>
          </a:solidFill>
          <a:ln/>
        </p:spPr>
      </p:sp>
      <p:sp>
        <p:nvSpPr>
          <p:cNvPr id="3" name="Shape 1"/>
          <p:cNvSpPr/>
          <p:nvPr/>
        </p:nvSpPr>
        <p:spPr>
          <a:xfrm>
            <a:off x="548640" y="365760"/>
            <a:ext cx="310896" cy="310896"/>
          </a:xfrm>
          <a:prstGeom prst="roundRect">
            <a:avLst>
              <a:gd name="adj" fmla="val 17647"/>
            </a:avLst>
          </a:prstGeom>
          <a:solidFill>
            <a:srgbClr val="2FBF87"/>
          </a:solidFill>
          <a:ln/>
        </p:spPr>
      </p:sp>
      <p:sp>
        <p:nvSpPr>
          <p:cNvPr id="4" name="Text 2"/>
          <p:cNvSpPr/>
          <p:nvPr/>
        </p:nvSpPr>
        <p:spPr>
          <a:xfrm>
            <a:off x="548640" y="365760"/>
            <a:ext cx="310896" cy="310896"/>
          </a:xfrm>
          <a:prstGeom prst="rect">
            <a:avLst/>
          </a:prstGeom>
          <a:noFill/>
          <a:ln/>
        </p:spPr>
        <p:txBody>
          <a:bodyPr wrap="square" rtlCol="0" anchor="ctr"/>
          <a:lstStyle/>
          <a:p>
            <a:pPr algn="ctr" indent="0" marL="0">
              <a:buNone/>
            </a:pPr>
            <a:r>
              <a:rPr lang="en-US" sz="1500" b="1" dirty="0">
                <a:solidFill>
                  <a:srgbClr val="0B1512"/>
                </a:solidFill>
                <a:latin typeface="Arial" pitchFamily="34" charset="0"/>
                <a:ea typeface="Arial" pitchFamily="34" charset="-122"/>
                <a:cs typeface="Arial" pitchFamily="34" charset="-120"/>
              </a:rPr>
              <a:t>P</a:t>
            </a:r>
            <a:endParaRPr lang="en-US" sz="1500" dirty="0"/>
          </a:p>
        </p:txBody>
      </p:sp>
      <p:sp>
        <p:nvSpPr>
          <p:cNvPr id="5" name="Text 3"/>
          <p:cNvSpPr/>
          <p:nvPr/>
        </p:nvSpPr>
        <p:spPr>
          <a:xfrm>
            <a:off x="932688" y="365760"/>
            <a:ext cx="2743200" cy="310896"/>
          </a:xfrm>
          <a:prstGeom prst="rect">
            <a:avLst/>
          </a:prstGeom>
          <a:noFill/>
          <a:ln/>
        </p:spPr>
        <p:txBody>
          <a:bodyPr wrap="square" rtlCol="0" anchor="ctr"/>
          <a:lstStyle/>
          <a:p>
            <a:pPr indent="0" marL="0">
              <a:buNone/>
            </a:pPr>
            <a:r>
              <a:rPr lang="en-US" sz="1500" b="1" spc="200" kern="0" dirty="0">
                <a:solidFill>
                  <a:srgbClr val="FFFFFF"/>
                </a:solidFill>
                <a:latin typeface="Arial" pitchFamily="34" charset="0"/>
                <a:ea typeface="Arial" pitchFamily="34" charset="-122"/>
                <a:cs typeface="Arial" pitchFamily="34" charset="-120"/>
              </a:rPr>
              <a:t>PACTA</a:t>
            </a:r>
            <a:endParaRPr lang="en-US" sz="1500" dirty="0"/>
          </a:p>
        </p:txBody>
      </p:sp>
      <p:sp>
        <p:nvSpPr>
          <p:cNvPr id="6" name="Text 4"/>
          <p:cNvSpPr/>
          <p:nvPr/>
        </p:nvSpPr>
        <p:spPr>
          <a:xfrm>
            <a:off x="10271455" y="365760"/>
            <a:ext cx="1371600" cy="310896"/>
          </a:xfrm>
          <a:prstGeom prst="rect">
            <a:avLst/>
          </a:prstGeom>
          <a:noFill/>
          <a:ln/>
        </p:spPr>
        <p:txBody>
          <a:bodyPr wrap="square" rtlCol="0" anchor="ctr"/>
          <a:lstStyle/>
          <a:p>
            <a:pPr algn="r" indent="0" marL="0">
              <a:buNone/>
            </a:pPr>
            <a:r>
              <a:rPr lang="en-US" sz="1100" dirty="0">
                <a:solidFill>
                  <a:srgbClr val="A7B8B0"/>
                </a:solidFill>
                <a:latin typeface="Consolas" pitchFamily="34" charset="0"/>
                <a:ea typeface="Consolas" pitchFamily="34" charset="-122"/>
                <a:cs typeface="Consolas" pitchFamily="34" charset="-120"/>
              </a:rPr>
              <a:t>06 / 07</a:t>
            </a:r>
            <a:endParaRPr lang="en-US" sz="1100" dirty="0"/>
          </a:p>
        </p:txBody>
      </p:sp>
      <p:sp>
        <p:nvSpPr>
          <p:cNvPr id="7" name="Text 5"/>
          <p:cNvSpPr/>
          <p:nvPr/>
        </p:nvSpPr>
        <p:spPr>
          <a:xfrm>
            <a:off x="548640" y="6437376"/>
            <a:ext cx="8229600" cy="274320"/>
          </a:xfrm>
          <a:prstGeom prst="rect">
            <a:avLst/>
          </a:prstGeom>
          <a:noFill/>
          <a:ln/>
        </p:spPr>
        <p:txBody>
          <a:bodyPr wrap="square" rtlCol="0" anchor="ctr"/>
          <a:lstStyle/>
          <a:p>
            <a:pPr indent="0" marL="0">
              <a:buNone/>
            </a:pPr>
            <a:r>
              <a:rPr lang="en-US" sz="900" dirty="0">
                <a:solidFill>
                  <a:srgbClr val="A7B8B0"/>
                </a:solidFill>
                <a:latin typeface="Consolas" pitchFamily="34" charset="0"/>
                <a:ea typeface="Consolas" pitchFamily="34" charset="-122"/>
                <a:cs typeface="Consolas" pitchFamily="34" charset="-120"/>
              </a:rPr>
              <a:t>getpacta.app   ·   Trust, written in code.</a:t>
            </a:r>
            <a:endParaRPr lang="en-US" sz="900" dirty="0"/>
          </a:p>
        </p:txBody>
      </p:sp>
      <p:sp>
        <p:nvSpPr>
          <p:cNvPr id="8" name="Text 6"/>
          <p:cNvSpPr/>
          <p:nvPr/>
        </p:nvSpPr>
        <p:spPr>
          <a:xfrm>
            <a:off x="548640" y="868680"/>
            <a:ext cx="11064240" cy="548640"/>
          </a:xfrm>
          <a:prstGeom prst="rect">
            <a:avLst/>
          </a:prstGeom>
          <a:noFill/>
          <a:ln/>
        </p:spPr>
        <p:txBody>
          <a:bodyPr wrap="square" rtlCol="0" anchor="ctr"/>
          <a:lstStyle/>
          <a:p>
            <a:pPr indent="0" marL="0">
              <a:buNone/>
            </a:pPr>
            <a:r>
              <a:rPr lang="en-US" sz="2600" b="1" dirty="0">
                <a:solidFill>
                  <a:srgbClr val="FFFFFF"/>
                </a:solidFill>
                <a:latin typeface="Arial" pitchFamily="34" charset="0"/>
                <a:ea typeface="Arial" pitchFamily="34" charset="-122"/>
                <a:cs typeface="Arial" pitchFamily="34" charset="-120"/>
              </a:rPr>
              <a:t>Tech Stack &amp; Architecture  (Appendix)</a:t>
            </a:r>
            <a:endParaRPr lang="en-US" sz="2600" dirty="0"/>
          </a:p>
        </p:txBody>
      </p:sp>
      <p:sp>
        <p:nvSpPr>
          <p:cNvPr id="9" name="Shape 7"/>
          <p:cNvSpPr/>
          <p:nvPr/>
        </p:nvSpPr>
        <p:spPr>
          <a:xfrm>
            <a:off x="566928" y="1417320"/>
            <a:ext cx="822960" cy="41148"/>
          </a:xfrm>
          <a:prstGeom prst="rect">
            <a:avLst/>
          </a:prstGeom>
          <a:solidFill>
            <a:srgbClr val="2FBF87"/>
          </a:solidFill>
          <a:ln/>
        </p:spPr>
      </p:sp>
      <p:sp>
        <p:nvSpPr>
          <p:cNvPr id="10" name="Shape 8"/>
          <p:cNvSpPr/>
          <p:nvPr/>
        </p:nvSpPr>
        <p:spPr>
          <a:xfrm>
            <a:off x="548640" y="1645920"/>
            <a:ext cx="11091672" cy="1051560"/>
          </a:xfrm>
          <a:prstGeom prst="roundRect">
            <a:avLst>
              <a:gd name="adj" fmla="val 6957"/>
            </a:avLst>
          </a:prstGeom>
          <a:solidFill>
            <a:srgbClr val="11211A"/>
          </a:solidFill>
          <a:ln w="12700">
            <a:solidFill>
              <a:srgbClr val="20402F"/>
            </a:solidFill>
            <a:prstDash val="solid"/>
          </a:ln>
        </p:spPr>
      </p:sp>
      <p:sp>
        <p:nvSpPr>
          <p:cNvPr id="11" name="Text 9"/>
          <p:cNvSpPr/>
          <p:nvPr/>
        </p:nvSpPr>
        <p:spPr>
          <a:xfrm>
            <a:off x="749808" y="1755648"/>
            <a:ext cx="2743200" cy="822960"/>
          </a:xfrm>
          <a:prstGeom prst="rect">
            <a:avLst/>
          </a:prstGeom>
          <a:noFill/>
          <a:ln/>
        </p:spPr>
        <p:txBody>
          <a:bodyPr wrap="square" rtlCol="0" anchor="ctr"/>
          <a:lstStyle/>
          <a:p>
            <a:pPr indent="0" marL="0">
              <a:lnSpc>
                <a:spcPct val="105000"/>
              </a:lnSpc>
              <a:buNone/>
            </a:pPr>
            <a:r>
              <a:rPr lang="en-US" sz="1300" b="1" dirty="0">
                <a:solidFill>
                  <a:srgbClr val="FFFFFF"/>
                </a:solidFill>
                <a:latin typeface="Arial" pitchFamily="34" charset="0"/>
                <a:ea typeface="Arial" pitchFamily="34" charset="-122"/>
                <a:cs typeface="Arial" pitchFamily="34" charset="-120"/>
              </a:rPr>
              <a:t>Client / PWA
</a:t>
            </a:r>
            <a:pPr indent="0" marL="0">
              <a:lnSpc>
                <a:spcPct val="105000"/>
              </a:lnSpc>
              <a:buNone/>
            </a:pPr>
            <a:r>
              <a:rPr lang="en-US" sz="950" dirty="0">
                <a:solidFill>
                  <a:srgbClr val="A7B8B0"/>
                </a:solidFill>
                <a:latin typeface="Arial" pitchFamily="34" charset="0"/>
                <a:ea typeface="Arial" pitchFamily="34" charset="-122"/>
                <a:cs typeface="Arial" pitchFamily="34" charset="-120"/>
              </a:rPr>
              <a:t>mobile-first SPA</a:t>
            </a:r>
            <a:endParaRPr lang="en-US" sz="1300" dirty="0"/>
          </a:p>
        </p:txBody>
      </p:sp>
      <p:sp>
        <p:nvSpPr>
          <p:cNvPr id="12" name="Shape 10"/>
          <p:cNvSpPr/>
          <p:nvPr/>
        </p:nvSpPr>
        <p:spPr>
          <a:xfrm>
            <a:off x="3611880" y="1975104"/>
            <a:ext cx="1344168" cy="384048"/>
          </a:xfrm>
          <a:prstGeom prst="roundRect">
            <a:avLst>
              <a:gd name="adj" fmla="val 14286"/>
            </a:avLst>
          </a:prstGeom>
          <a:solidFill>
            <a:srgbClr val="14281F"/>
          </a:solidFill>
          <a:ln w="12700">
            <a:solidFill>
              <a:srgbClr val="20402F"/>
            </a:solidFill>
            <a:prstDash val="solid"/>
          </a:ln>
        </p:spPr>
      </p:sp>
      <p:sp>
        <p:nvSpPr>
          <p:cNvPr id="13" name="Text 11"/>
          <p:cNvSpPr/>
          <p:nvPr/>
        </p:nvSpPr>
        <p:spPr>
          <a:xfrm>
            <a:off x="3611880" y="1975104"/>
            <a:ext cx="1344168" cy="384048"/>
          </a:xfrm>
          <a:prstGeom prst="rect">
            <a:avLst/>
          </a:prstGeom>
          <a:noFill/>
          <a:ln/>
        </p:spPr>
        <p:txBody>
          <a:bodyPr wrap="square" rtlCol="0" anchor="ctr"/>
          <a:lstStyle/>
          <a:p>
            <a:pPr algn="ctr" indent="0" marL="0">
              <a:buNone/>
            </a:pPr>
            <a:r>
              <a:rPr lang="en-US" sz="1000" dirty="0">
                <a:solidFill>
                  <a:srgbClr val="34D399"/>
                </a:solidFill>
                <a:latin typeface="Consolas" pitchFamily="34" charset="0"/>
                <a:ea typeface="Consolas" pitchFamily="34" charset="-122"/>
                <a:cs typeface="Consolas" pitchFamily="34" charset="-120"/>
              </a:rPr>
              <a:t>React + Vite</a:t>
            </a:r>
            <a:endParaRPr lang="en-US" sz="1000" dirty="0"/>
          </a:p>
        </p:txBody>
      </p:sp>
      <p:sp>
        <p:nvSpPr>
          <p:cNvPr id="14" name="Shape 12"/>
          <p:cNvSpPr/>
          <p:nvPr/>
        </p:nvSpPr>
        <p:spPr>
          <a:xfrm>
            <a:off x="5138928" y="1975104"/>
            <a:ext cx="1188720" cy="384048"/>
          </a:xfrm>
          <a:prstGeom prst="roundRect">
            <a:avLst>
              <a:gd name="adj" fmla="val 14286"/>
            </a:avLst>
          </a:prstGeom>
          <a:solidFill>
            <a:srgbClr val="14281F"/>
          </a:solidFill>
          <a:ln w="12700">
            <a:solidFill>
              <a:srgbClr val="20402F"/>
            </a:solidFill>
            <a:prstDash val="solid"/>
          </a:ln>
        </p:spPr>
      </p:sp>
      <p:sp>
        <p:nvSpPr>
          <p:cNvPr id="15" name="Text 13"/>
          <p:cNvSpPr/>
          <p:nvPr/>
        </p:nvSpPr>
        <p:spPr>
          <a:xfrm>
            <a:off x="5138928" y="1975104"/>
            <a:ext cx="1188720" cy="384048"/>
          </a:xfrm>
          <a:prstGeom prst="rect">
            <a:avLst/>
          </a:prstGeom>
          <a:noFill/>
          <a:ln/>
        </p:spPr>
        <p:txBody>
          <a:bodyPr wrap="square" rtlCol="0" anchor="ctr"/>
          <a:lstStyle/>
          <a:p>
            <a:pPr algn="ctr" indent="0" marL="0">
              <a:buNone/>
            </a:pPr>
            <a:r>
              <a:rPr lang="en-US" sz="1000" dirty="0">
                <a:solidFill>
                  <a:srgbClr val="34D399"/>
                </a:solidFill>
                <a:latin typeface="Consolas" pitchFamily="34" charset="0"/>
                <a:ea typeface="Consolas" pitchFamily="34" charset="-122"/>
                <a:cs typeface="Consolas" pitchFamily="34" charset="-120"/>
              </a:rPr>
              <a:t>TypeScript</a:t>
            </a:r>
            <a:endParaRPr lang="en-US" sz="1000" dirty="0"/>
          </a:p>
        </p:txBody>
      </p:sp>
      <p:sp>
        <p:nvSpPr>
          <p:cNvPr id="16" name="Shape 14"/>
          <p:cNvSpPr/>
          <p:nvPr/>
        </p:nvSpPr>
        <p:spPr>
          <a:xfrm>
            <a:off x="6510528" y="1975104"/>
            <a:ext cx="1033272" cy="384048"/>
          </a:xfrm>
          <a:prstGeom prst="roundRect">
            <a:avLst>
              <a:gd name="adj" fmla="val 14286"/>
            </a:avLst>
          </a:prstGeom>
          <a:solidFill>
            <a:srgbClr val="14281F"/>
          </a:solidFill>
          <a:ln w="12700">
            <a:solidFill>
              <a:srgbClr val="20402F"/>
            </a:solidFill>
            <a:prstDash val="solid"/>
          </a:ln>
        </p:spPr>
      </p:sp>
      <p:sp>
        <p:nvSpPr>
          <p:cNvPr id="17" name="Text 15"/>
          <p:cNvSpPr/>
          <p:nvPr/>
        </p:nvSpPr>
        <p:spPr>
          <a:xfrm>
            <a:off x="6510528" y="1975104"/>
            <a:ext cx="1033272" cy="384048"/>
          </a:xfrm>
          <a:prstGeom prst="rect">
            <a:avLst/>
          </a:prstGeom>
          <a:noFill/>
          <a:ln/>
        </p:spPr>
        <p:txBody>
          <a:bodyPr wrap="square" rtlCol="0" anchor="ctr"/>
          <a:lstStyle/>
          <a:p>
            <a:pPr algn="ctr" indent="0" marL="0">
              <a:buNone/>
            </a:pPr>
            <a:r>
              <a:rPr lang="en-US" sz="1000" dirty="0">
                <a:solidFill>
                  <a:srgbClr val="34D399"/>
                </a:solidFill>
                <a:latin typeface="Consolas" pitchFamily="34" charset="0"/>
                <a:ea typeface="Consolas" pitchFamily="34" charset="-122"/>
                <a:cs typeface="Consolas" pitchFamily="34" charset="-120"/>
              </a:rPr>
              <a:t>Tailwind</a:t>
            </a:r>
            <a:endParaRPr lang="en-US" sz="1000" dirty="0"/>
          </a:p>
        </p:txBody>
      </p:sp>
      <p:sp>
        <p:nvSpPr>
          <p:cNvPr id="18" name="Shape 16"/>
          <p:cNvSpPr/>
          <p:nvPr/>
        </p:nvSpPr>
        <p:spPr>
          <a:xfrm>
            <a:off x="7726680" y="1975104"/>
            <a:ext cx="1499616" cy="384048"/>
          </a:xfrm>
          <a:prstGeom prst="roundRect">
            <a:avLst>
              <a:gd name="adj" fmla="val 14286"/>
            </a:avLst>
          </a:prstGeom>
          <a:solidFill>
            <a:srgbClr val="14281F"/>
          </a:solidFill>
          <a:ln w="12700">
            <a:solidFill>
              <a:srgbClr val="20402F"/>
            </a:solidFill>
            <a:prstDash val="solid"/>
          </a:ln>
        </p:spPr>
      </p:sp>
      <p:sp>
        <p:nvSpPr>
          <p:cNvPr id="19" name="Text 17"/>
          <p:cNvSpPr/>
          <p:nvPr/>
        </p:nvSpPr>
        <p:spPr>
          <a:xfrm>
            <a:off x="7726680" y="1975104"/>
            <a:ext cx="1499616" cy="384048"/>
          </a:xfrm>
          <a:prstGeom prst="rect">
            <a:avLst/>
          </a:prstGeom>
          <a:noFill/>
          <a:ln/>
        </p:spPr>
        <p:txBody>
          <a:bodyPr wrap="square" rtlCol="0" anchor="ctr"/>
          <a:lstStyle/>
          <a:p>
            <a:pPr algn="ctr" indent="0" marL="0">
              <a:buNone/>
            </a:pPr>
            <a:r>
              <a:rPr lang="en-US" sz="1000" dirty="0">
                <a:solidFill>
                  <a:srgbClr val="34D399"/>
                </a:solidFill>
                <a:latin typeface="Consolas" pitchFamily="34" charset="0"/>
                <a:ea typeface="Consolas" pitchFamily="34" charset="-122"/>
                <a:cs typeface="Consolas" pitchFamily="34" charset="-120"/>
              </a:rPr>
              <a:t>Offline Outbox</a:t>
            </a:r>
            <a:endParaRPr lang="en-US" sz="1000" dirty="0"/>
          </a:p>
        </p:txBody>
      </p:sp>
      <p:sp>
        <p:nvSpPr>
          <p:cNvPr id="20" name="Shape 18"/>
          <p:cNvSpPr/>
          <p:nvPr/>
        </p:nvSpPr>
        <p:spPr>
          <a:xfrm>
            <a:off x="548640" y="2880360"/>
            <a:ext cx="11091672" cy="1051560"/>
          </a:xfrm>
          <a:prstGeom prst="roundRect">
            <a:avLst>
              <a:gd name="adj" fmla="val 6957"/>
            </a:avLst>
          </a:prstGeom>
          <a:solidFill>
            <a:srgbClr val="11211A"/>
          </a:solidFill>
          <a:ln w="12700">
            <a:solidFill>
              <a:srgbClr val="20402F"/>
            </a:solidFill>
            <a:prstDash val="solid"/>
          </a:ln>
        </p:spPr>
      </p:sp>
      <p:sp>
        <p:nvSpPr>
          <p:cNvPr id="21" name="Text 19"/>
          <p:cNvSpPr/>
          <p:nvPr/>
        </p:nvSpPr>
        <p:spPr>
          <a:xfrm>
            <a:off x="749808" y="2990088"/>
            <a:ext cx="2743200" cy="822960"/>
          </a:xfrm>
          <a:prstGeom prst="rect">
            <a:avLst/>
          </a:prstGeom>
          <a:noFill/>
          <a:ln/>
        </p:spPr>
        <p:txBody>
          <a:bodyPr wrap="square" rtlCol="0" anchor="ctr"/>
          <a:lstStyle/>
          <a:p>
            <a:pPr indent="0" marL="0">
              <a:lnSpc>
                <a:spcPct val="105000"/>
              </a:lnSpc>
              <a:buNone/>
            </a:pPr>
            <a:r>
              <a:rPr lang="en-US" sz="1300" b="1" dirty="0">
                <a:solidFill>
                  <a:srgbClr val="FFFFFF"/>
                </a:solidFill>
                <a:latin typeface="Arial" pitchFamily="34" charset="0"/>
                <a:ea typeface="Arial" pitchFamily="34" charset="-122"/>
                <a:cs typeface="Arial" pitchFamily="34" charset="-120"/>
              </a:rPr>
              <a:t>Adapter / AI
</a:t>
            </a:r>
            <a:pPr indent="0" marL="0">
              <a:lnSpc>
                <a:spcPct val="105000"/>
              </a:lnSpc>
              <a:buNone/>
            </a:pPr>
            <a:r>
              <a:rPr lang="en-US" sz="950" dirty="0">
                <a:solidFill>
                  <a:srgbClr val="A7B8B0"/>
                </a:solidFill>
                <a:latin typeface="Arial" pitchFamily="34" charset="0"/>
                <a:ea typeface="Arial" pitchFamily="34" charset="-122"/>
                <a:cs typeface="Arial" pitchFamily="34" charset="-120"/>
              </a:rPr>
              <a:t>stateless seam</a:t>
            </a:r>
            <a:endParaRPr lang="en-US" sz="1300" dirty="0"/>
          </a:p>
        </p:txBody>
      </p:sp>
      <p:sp>
        <p:nvSpPr>
          <p:cNvPr id="22" name="Shape 20"/>
          <p:cNvSpPr/>
          <p:nvPr/>
        </p:nvSpPr>
        <p:spPr>
          <a:xfrm>
            <a:off x="3611880" y="3209544"/>
            <a:ext cx="2820924" cy="384048"/>
          </a:xfrm>
          <a:prstGeom prst="roundRect">
            <a:avLst>
              <a:gd name="adj" fmla="val 14286"/>
            </a:avLst>
          </a:prstGeom>
          <a:solidFill>
            <a:srgbClr val="14281F"/>
          </a:solidFill>
          <a:ln w="12700">
            <a:solidFill>
              <a:srgbClr val="20402F"/>
            </a:solidFill>
            <a:prstDash val="solid"/>
          </a:ln>
        </p:spPr>
      </p:sp>
      <p:sp>
        <p:nvSpPr>
          <p:cNvPr id="23" name="Text 21"/>
          <p:cNvSpPr/>
          <p:nvPr/>
        </p:nvSpPr>
        <p:spPr>
          <a:xfrm>
            <a:off x="3611880" y="3209544"/>
            <a:ext cx="2820924" cy="384048"/>
          </a:xfrm>
          <a:prstGeom prst="rect">
            <a:avLst/>
          </a:prstGeom>
          <a:noFill/>
          <a:ln/>
        </p:spPr>
        <p:txBody>
          <a:bodyPr wrap="square" rtlCol="0" anchor="ctr"/>
          <a:lstStyle/>
          <a:p>
            <a:pPr algn="ctr" indent="0" marL="0">
              <a:buNone/>
            </a:pPr>
            <a:r>
              <a:rPr lang="en-US" sz="1000" dirty="0">
                <a:solidFill>
                  <a:srgbClr val="34D399"/>
                </a:solidFill>
                <a:latin typeface="Consolas" pitchFamily="34" charset="0"/>
                <a:ea typeface="Consolas" pitchFamily="34" charset="-122"/>
                <a:cs typeface="Consolas" pitchFamily="34" charset="-120"/>
              </a:rPr>
              <a:t>ChainAdapter (multi-chain seam)</a:t>
            </a:r>
            <a:endParaRPr lang="en-US" sz="1000" dirty="0"/>
          </a:p>
        </p:txBody>
      </p:sp>
      <p:sp>
        <p:nvSpPr>
          <p:cNvPr id="24" name="Shape 22"/>
          <p:cNvSpPr/>
          <p:nvPr/>
        </p:nvSpPr>
        <p:spPr>
          <a:xfrm>
            <a:off x="6615684" y="3209544"/>
            <a:ext cx="1965960" cy="384048"/>
          </a:xfrm>
          <a:prstGeom prst="roundRect">
            <a:avLst>
              <a:gd name="adj" fmla="val 14286"/>
            </a:avLst>
          </a:prstGeom>
          <a:solidFill>
            <a:srgbClr val="14281F"/>
          </a:solidFill>
          <a:ln w="12700">
            <a:solidFill>
              <a:srgbClr val="20402F"/>
            </a:solidFill>
            <a:prstDash val="solid"/>
          </a:ln>
        </p:spPr>
      </p:sp>
      <p:sp>
        <p:nvSpPr>
          <p:cNvPr id="25" name="Text 23"/>
          <p:cNvSpPr/>
          <p:nvPr/>
        </p:nvSpPr>
        <p:spPr>
          <a:xfrm>
            <a:off x="6615684" y="3209544"/>
            <a:ext cx="1965960" cy="384048"/>
          </a:xfrm>
          <a:prstGeom prst="rect">
            <a:avLst/>
          </a:prstGeom>
          <a:noFill/>
          <a:ln/>
        </p:spPr>
        <p:txBody>
          <a:bodyPr wrap="square" rtlCol="0" anchor="ctr"/>
          <a:lstStyle/>
          <a:p>
            <a:pPr algn="ctr" indent="0" marL="0">
              <a:buNone/>
            </a:pPr>
            <a:r>
              <a:rPr lang="en-US" sz="1000" dirty="0">
                <a:solidFill>
                  <a:srgbClr val="34D399"/>
                </a:solidFill>
                <a:latin typeface="Consolas" pitchFamily="34" charset="0"/>
                <a:ea typeface="Consolas" pitchFamily="34" charset="-122"/>
                <a:cs typeface="Consolas" pitchFamily="34" charset="-120"/>
              </a:rPr>
              <a:t>Gemini 2.5 Risk Lens</a:t>
            </a:r>
            <a:endParaRPr lang="en-US" sz="1000" dirty="0"/>
          </a:p>
        </p:txBody>
      </p:sp>
      <p:sp>
        <p:nvSpPr>
          <p:cNvPr id="26" name="Shape 24"/>
          <p:cNvSpPr/>
          <p:nvPr/>
        </p:nvSpPr>
        <p:spPr>
          <a:xfrm>
            <a:off x="8764524" y="3209544"/>
            <a:ext cx="1344168" cy="384048"/>
          </a:xfrm>
          <a:prstGeom prst="roundRect">
            <a:avLst>
              <a:gd name="adj" fmla="val 14286"/>
            </a:avLst>
          </a:prstGeom>
          <a:solidFill>
            <a:srgbClr val="14281F"/>
          </a:solidFill>
          <a:ln w="12700">
            <a:solidFill>
              <a:srgbClr val="20402F"/>
            </a:solidFill>
            <a:prstDash val="solid"/>
          </a:ln>
        </p:spPr>
      </p:sp>
      <p:sp>
        <p:nvSpPr>
          <p:cNvPr id="27" name="Text 25"/>
          <p:cNvSpPr/>
          <p:nvPr/>
        </p:nvSpPr>
        <p:spPr>
          <a:xfrm>
            <a:off x="8764524" y="3209544"/>
            <a:ext cx="1344168" cy="384048"/>
          </a:xfrm>
          <a:prstGeom prst="rect">
            <a:avLst/>
          </a:prstGeom>
          <a:noFill/>
          <a:ln/>
        </p:spPr>
        <p:txBody>
          <a:bodyPr wrap="square" rtlCol="0" anchor="ctr"/>
          <a:lstStyle/>
          <a:p>
            <a:pPr algn="ctr" indent="0" marL="0">
              <a:buNone/>
            </a:pPr>
            <a:r>
              <a:rPr lang="en-US" sz="1000" dirty="0">
                <a:solidFill>
                  <a:srgbClr val="34D399"/>
                </a:solidFill>
                <a:latin typeface="Consolas" pitchFamily="34" charset="0"/>
                <a:ea typeface="Consolas" pitchFamily="34" charset="-122"/>
                <a:cs typeface="Consolas" pitchFamily="34" charset="-120"/>
              </a:rPr>
              <a:t>Supabase KYC</a:t>
            </a:r>
            <a:endParaRPr lang="en-US" sz="1000" dirty="0"/>
          </a:p>
        </p:txBody>
      </p:sp>
      <p:sp>
        <p:nvSpPr>
          <p:cNvPr id="28" name="Shape 26"/>
          <p:cNvSpPr/>
          <p:nvPr/>
        </p:nvSpPr>
        <p:spPr>
          <a:xfrm>
            <a:off x="548640" y="4114800"/>
            <a:ext cx="11091672" cy="1051560"/>
          </a:xfrm>
          <a:prstGeom prst="roundRect">
            <a:avLst>
              <a:gd name="adj" fmla="val 6957"/>
            </a:avLst>
          </a:prstGeom>
          <a:solidFill>
            <a:srgbClr val="11211A"/>
          </a:solidFill>
          <a:ln w="12700">
            <a:solidFill>
              <a:srgbClr val="20402F"/>
            </a:solidFill>
            <a:prstDash val="solid"/>
          </a:ln>
        </p:spPr>
      </p:sp>
      <p:sp>
        <p:nvSpPr>
          <p:cNvPr id="29" name="Text 27"/>
          <p:cNvSpPr/>
          <p:nvPr/>
        </p:nvSpPr>
        <p:spPr>
          <a:xfrm>
            <a:off x="749808" y="4224528"/>
            <a:ext cx="2743200" cy="822960"/>
          </a:xfrm>
          <a:prstGeom prst="rect">
            <a:avLst/>
          </a:prstGeom>
          <a:noFill/>
          <a:ln/>
        </p:spPr>
        <p:txBody>
          <a:bodyPr wrap="square" rtlCol="0" anchor="ctr"/>
          <a:lstStyle/>
          <a:p>
            <a:pPr indent="0" marL="0">
              <a:lnSpc>
                <a:spcPct val="105000"/>
              </a:lnSpc>
              <a:buNone/>
            </a:pPr>
            <a:r>
              <a:rPr lang="en-US" sz="1300" b="1" dirty="0">
                <a:solidFill>
                  <a:srgbClr val="FFFFFF"/>
                </a:solidFill>
                <a:latin typeface="Arial" pitchFamily="34" charset="0"/>
                <a:ea typeface="Arial" pitchFamily="34" charset="-122"/>
                <a:cs typeface="Arial" pitchFamily="34" charset="-120"/>
              </a:rPr>
              <a:t>Stellar / Soroban core
</a:t>
            </a:r>
            <a:pPr indent="0" marL="0">
              <a:lnSpc>
                <a:spcPct val="105000"/>
              </a:lnSpc>
              <a:buNone/>
            </a:pPr>
            <a:r>
              <a:rPr lang="en-US" sz="950" dirty="0">
                <a:solidFill>
                  <a:srgbClr val="A7B8B0"/>
                </a:solidFill>
                <a:latin typeface="Arial" pitchFamily="34" charset="0"/>
                <a:ea typeface="Arial" pitchFamily="34" charset="-122"/>
                <a:cs typeface="Arial" pitchFamily="34" charset="-120"/>
              </a:rPr>
              <a:t>on-chain execution</a:t>
            </a:r>
            <a:endParaRPr lang="en-US" sz="1300" dirty="0"/>
          </a:p>
        </p:txBody>
      </p:sp>
      <p:sp>
        <p:nvSpPr>
          <p:cNvPr id="30" name="Shape 28"/>
          <p:cNvSpPr/>
          <p:nvPr/>
        </p:nvSpPr>
        <p:spPr>
          <a:xfrm>
            <a:off x="3611880" y="4443984"/>
            <a:ext cx="1810512" cy="384048"/>
          </a:xfrm>
          <a:prstGeom prst="roundRect">
            <a:avLst>
              <a:gd name="adj" fmla="val 14286"/>
            </a:avLst>
          </a:prstGeom>
          <a:solidFill>
            <a:srgbClr val="14281F"/>
          </a:solidFill>
          <a:ln w="12700">
            <a:solidFill>
              <a:srgbClr val="20402F"/>
            </a:solidFill>
            <a:prstDash val="solid"/>
          </a:ln>
        </p:spPr>
      </p:sp>
      <p:sp>
        <p:nvSpPr>
          <p:cNvPr id="31" name="Text 29"/>
          <p:cNvSpPr/>
          <p:nvPr/>
        </p:nvSpPr>
        <p:spPr>
          <a:xfrm>
            <a:off x="3611880" y="4443984"/>
            <a:ext cx="1810512" cy="384048"/>
          </a:xfrm>
          <a:prstGeom prst="rect">
            <a:avLst/>
          </a:prstGeom>
          <a:noFill/>
          <a:ln/>
        </p:spPr>
        <p:txBody>
          <a:bodyPr wrap="square" rtlCol="0" anchor="ctr"/>
          <a:lstStyle/>
          <a:p>
            <a:pPr algn="ctr" indent="0" marL="0">
              <a:buNone/>
            </a:pPr>
            <a:r>
              <a:rPr lang="en-US" sz="1000" dirty="0">
                <a:solidFill>
                  <a:srgbClr val="34D399"/>
                </a:solidFill>
                <a:latin typeface="Consolas" pitchFamily="34" charset="0"/>
                <a:ea typeface="Consolas" pitchFamily="34" charset="-122"/>
                <a:cs typeface="Consolas" pitchFamily="34" charset="-120"/>
              </a:rPr>
              <a:t>Rust escrow (WASM)</a:t>
            </a:r>
            <a:endParaRPr lang="en-US" sz="1000" dirty="0"/>
          </a:p>
        </p:txBody>
      </p:sp>
      <p:sp>
        <p:nvSpPr>
          <p:cNvPr id="32" name="Shape 30"/>
          <p:cNvSpPr/>
          <p:nvPr/>
        </p:nvSpPr>
        <p:spPr>
          <a:xfrm>
            <a:off x="5605272" y="4443984"/>
            <a:ext cx="1732788" cy="384048"/>
          </a:xfrm>
          <a:prstGeom prst="roundRect">
            <a:avLst>
              <a:gd name="adj" fmla="val 14286"/>
            </a:avLst>
          </a:prstGeom>
          <a:solidFill>
            <a:srgbClr val="14281F"/>
          </a:solidFill>
          <a:ln w="12700">
            <a:solidFill>
              <a:srgbClr val="20402F"/>
            </a:solidFill>
            <a:prstDash val="solid"/>
          </a:ln>
        </p:spPr>
      </p:sp>
      <p:sp>
        <p:nvSpPr>
          <p:cNvPr id="33" name="Text 31"/>
          <p:cNvSpPr/>
          <p:nvPr/>
        </p:nvSpPr>
        <p:spPr>
          <a:xfrm>
            <a:off x="5605272" y="4443984"/>
            <a:ext cx="1732788" cy="384048"/>
          </a:xfrm>
          <a:prstGeom prst="rect">
            <a:avLst/>
          </a:prstGeom>
          <a:noFill/>
          <a:ln/>
        </p:spPr>
        <p:txBody>
          <a:bodyPr wrap="square" rtlCol="0" anchor="ctr"/>
          <a:lstStyle/>
          <a:p>
            <a:pPr algn="ctr" indent="0" marL="0">
              <a:buNone/>
            </a:pPr>
            <a:r>
              <a:rPr lang="en-US" sz="1000" dirty="0">
                <a:solidFill>
                  <a:srgbClr val="34D399"/>
                </a:solidFill>
                <a:latin typeface="Consolas" pitchFamily="34" charset="0"/>
                <a:ea typeface="Consolas" pitchFamily="34" charset="-122"/>
                <a:cs typeface="Consolas" pitchFamily="34" charset="-120"/>
              </a:rPr>
              <a:t>DEX path payments</a:t>
            </a:r>
            <a:endParaRPr lang="en-US" sz="1000" dirty="0"/>
          </a:p>
        </p:txBody>
      </p:sp>
      <p:sp>
        <p:nvSpPr>
          <p:cNvPr id="34" name="Shape 32"/>
          <p:cNvSpPr/>
          <p:nvPr/>
        </p:nvSpPr>
        <p:spPr>
          <a:xfrm>
            <a:off x="7520940" y="4443984"/>
            <a:ext cx="1421892" cy="384048"/>
          </a:xfrm>
          <a:prstGeom prst="roundRect">
            <a:avLst>
              <a:gd name="adj" fmla="val 14286"/>
            </a:avLst>
          </a:prstGeom>
          <a:solidFill>
            <a:srgbClr val="14281F"/>
          </a:solidFill>
          <a:ln w="12700">
            <a:solidFill>
              <a:srgbClr val="20402F"/>
            </a:solidFill>
            <a:prstDash val="solid"/>
          </a:ln>
        </p:spPr>
      </p:sp>
      <p:sp>
        <p:nvSpPr>
          <p:cNvPr id="35" name="Text 33"/>
          <p:cNvSpPr/>
          <p:nvPr/>
        </p:nvSpPr>
        <p:spPr>
          <a:xfrm>
            <a:off x="7520940" y="4443984"/>
            <a:ext cx="1421892" cy="384048"/>
          </a:xfrm>
          <a:prstGeom prst="rect">
            <a:avLst/>
          </a:prstGeom>
          <a:noFill/>
          <a:ln/>
        </p:spPr>
        <p:txBody>
          <a:bodyPr wrap="square" rtlCol="0" anchor="ctr"/>
          <a:lstStyle/>
          <a:p>
            <a:pPr algn="ctr" indent="0" marL="0">
              <a:buNone/>
            </a:pPr>
            <a:r>
              <a:rPr lang="en-US" sz="1000" dirty="0">
                <a:solidFill>
                  <a:srgbClr val="34D399"/>
                </a:solidFill>
                <a:latin typeface="Consolas" pitchFamily="34" charset="0"/>
                <a:ea typeface="Consolas" pitchFamily="34" charset="-122"/>
                <a:cs typeface="Consolas" pitchFamily="34" charset="-120"/>
              </a:rPr>
              <a:t>Horizon / RPC</a:t>
            </a:r>
            <a:endParaRPr lang="en-US" sz="1000" dirty="0"/>
          </a:p>
        </p:txBody>
      </p:sp>
      <p:sp>
        <p:nvSpPr>
          <p:cNvPr id="36" name="Shape 34"/>
          <p:cNvSpPr/>
          <p:nvPr/>
        </p:nvSpPr>
        <p:spPr>
          <a:xfrm>
            <a:off x="9125712" y="4443984"/>
            <a:ext cx="1266444" cy="384048"/>
          </a:xfrm>
          <a:prstGeom prst="roundRect">
            <a:avLst>
              <a:gd name="adj" fmla="val 14286"/>
            </a:avLst>
          </a:prstGeom>
          <a:solidFill>
            <a:srgbClr val="14281F"/>
          </a:solidFill>
          <a:ln w="12700">
            <a:solidFill>
              <a:srgbClr val="20402F"/>
            </a:solidFill>
            <a:prstDash val="solid"/>
          </a:ln>
        </p:spPr>
      </p:sp>
      <p:sp>
        <p:nvSpPr>
          <p:cNvPr id="37" name="Text 35"/>
          <p:cNvSpPr/>
          <p:nvPr/>
        </p:nvSpPr>
        <p:spPr>
          <a:xfrm>
            <a:off x="9125712" y="4443984"/>
            <a:ext cx="1266444" cy="384048"/>
          </a:xfrm>
          <a:prstGeom prst="rect">
            <a:avLst/>
          </a:prstGeom>
          <a:noFill/>
          <a:ln/>
        </p:spPr>
        <p:txBody>
          <a:bodyPr wrap="square" rtlCol="0" anchor="ctr"/>
          <a:lstStyle/>
          <a:p>
            <a:pPr algn="ctr" indent="0" marL="0">
              <a:buNone/>
            </a:pPr>
            <a:r>
              <a:rPr lang="en-US" sz="1000" dirty="0">
                <a:solidFill>
                  <a:srgbClr val="34D399"/>
                </a:solidFill>
                <a:latin typeface="Consolas" pitchFamily="34" charset="0"/>
                <a:ea typeface="Consolas" pitchFamily="34" charset="-122"/>
                <a:cs typeface="Consolas" pitchFamily="34" charset="-120"/>
              </a:rPr>
              <a:t>Wallets Kit</a:t>
            </a:r>
            <a:endParaRPr lang="en-US" sz="1000" dirty="0"/>
          </a:p>
        </p:txBody>
      </p:sp>
      <p:sp>
        <p:nvSpPr>
          <p:cNvPr id="38" name="Shape 36"/>
          <p:cNvSpPr/>
          <p:nvPr/>
        </p:nvSpPr>
        <p:spPr>
          <a:xfrm>
            <a:off x="548640" y="5486400"/>
            <a:ext cx="3149194" cy="384048"/>
          </a:xfrm>
          <a:prstGeom prst="roundRect">
            <a:avLst>
              <a:gd name="adj" fmla="val 50000"/>
            </a:avLst>
          </a:prstGeom>
          <a:solidFill>
            <a:srgbClr val="14281F"/>
          </a:solidFill>
          <a:ln w="12700">
            <a:solidFill>
              <a:srgbClr val="2FBF87"/>
            </a:solidFill>
            <a:prstDash val="solid"/>
          </a:ln>
        </p:spPr>
      </p:sp>
      <p:sp>
        <p:nvSpPr>
          <p:cNvPr id="39" name="Text 37"/>
          <p:cNvSpPr/>
          <p:nvPr/>
        </p:nvSpPr>
        <p:spPr>
          <a:xfrm>
            <a:off x="548640" y="5486400"/>
            <a:ext cx="3149194" cy="384048"/>
          </a:xfrm>
          <a:prstGeom prst="rect">
            <a:avLst/>
          </a:prstGeom>
          <a:noFill/>
          <a:ln/>
        </p:spPr>
        <p:txBody>
          <a:bodyPr wrap="square" rtlCol="0" anchor="ctr"/>
          <a:lstStyle/>
          <a:p>
            <a:pPr algn="ctr" indent="0" marL="0">
              <a:buNone/>
            </a:pPr>
            <a:r>
              <a:rPr lang="en-US" sz="1100" dirty="0">
                <a:solidFill>
                  <a:srgbClr val="34D399"/>
                </a:solidFill>
                <a:latin typeface="Consolas" pitchFamily="34" charset="0"/>
                <a:ea typeface="Consolas" pitchFamily="34" charset="-122"/>
                <a:cs typeface="Consolas" pitchFamily="34" charset="-120"/>
              </a:rPr>
              <a:t>Non-custodial: keys never stored</a:t>
            </a:r>
            <a:endParaRPr lang="en-US" sz="1100" dirty="0"/>
          </a:p>
        </p:txBody>
      </p:sp>
      <p:sp>
        <p:nvSpPr>
          <p:cNvPr id="40" name="Shape 38"/>
          <p:cNvSpPr/>
          <p:nvPr/>
        </p:nvSpPr>
        <p:spPr>
          <a:xfrm>
            <a:off x="3899002" y="5486400"/>
            <a:ext cx="1634947" cy="384048"/>
          </a:xfrm>
          <a:prstGeom prst="roundRect">
            <a:avLst>
              <a:gd name="adj" fmla="val 50000"/>
            </a:avLst>
          </a:prstGeom>
          <a:solidFill>
            <a:srgbClr val="14281F"/>
          </a:solidFill>
          <a:ln w="12700">
            <a:solidFill>
              <a:srgbClr val="2FBF87"/>
            </a:solidFill>
            <a:prstDash val="solid"/>
          </a:ln>
        </p:spPr>
      </p:sp>
      <p:sp>
        <p:nvSpPr>
          <p:cNvPr id="41" name="Text 39"/>
          <p:cNvSpPr/>
          <p:nvPr/>
        </p:nvSpPr>
        <p:spPr>
          <a:xfrm>
            <a:off x="3899002" y="5486400"/>
            <a:ext cx="1634947" cy="384048"/>
          </a:xfrm>
          <a:prstGeom prst="rect">
            <a:avLst/>
          </a:prstGeom>
          <a:noFill/>
          <a:ln/>
        </p:spPr>
        <p:txBody>
          <a:bodyPr wrap="square" rtlCol="0" anchor="ctr"/>
          <a:lstStyle/>
          <a:p>
            <a:pPr algn="ctr" indent="0" marL="0">
              <a:buNone/>
            </a:pPr>
            <a:r>
              <a:rPr lang="en-US" sz="1100" dirty="0">
                <a:solidFill>
                  <a:srgbClr val="34D399"/>
                </a:solidFill>
                <a:latin typeface="Consolas" pitchFamily="34" charset="0"/>
                <a:ea typeface="Consolas" pitchFamily="34" charset="-122"/>
                <a:cs typeface="Consolas" pitchFamily="34" charset="-120"/>
              </a:rPr>
              <a:t>~3-5s finality</a:t>
            </a:r>
            <a:endParaRPr lang="en-US" sz="1100" dirty="0"/>
          </a:p>
        </p:txBody>
      </p:sp>
      <p:sp>
        <p:nvSpPr>
          <p:cNvPr id="42" name="Shape 40"/>
          <p:cNvSpPr/>
          <p:nvPr/>
        </p:nvSpPr>
        <p:spPr>
          <a:xfrm>
            <a:off x="5735117" y="5486400"/>
            <a:ext cx="1719072" cy="384048"/>
          </a:xfrm>
          <a:prstGeom prst="roundRect">
            <a:avLst>
              <a:gd name="adj" fmla="val 50000"/>
            </a:avLst>
          </a:prstGeom>
          <a:solidFill>
            <a:srgbClr val="14281F"/>
          </a:solidFill>
          <a:ln w="12700">
            <a:solidFill>
              <a:srgbClr val="2FBF87"/>
            </a:solidFill>
            <a:prstDash val="solid"/>
          </a:ln>
        </p:spPr>
      </p:sp>
      <p:sp>
        <p:nvSpPr>
          <p:cNvPr id="43" name="Text 41"/>
          <p:cNvSpPr/>
          <p:nvPr/>
        </p:nvSpPr>
        <p:spPr>
          <a:xfrm>
            <a:off x="5735117" y="5486400"/>
            <a:ext cx="1719072" cy="384048"/>
          </a:xfrm>
          <a:prstGeom prst="rect">
            <a:avLst/>
          </a:prstGeom>
          <a:noFill/>
          <a:ln/>
        </p:spPr>
        <p:txBody>
          <a:bodyPr wrap="square" rtlCol="0" anchor="ctr"/>
          <a:lstStyle/>
          <a:p>
            <a:pPr algn="ctr" indent="0" marL="0">
              <a:buNone/>
            </a:pPr>
            <a:r>
              <a:rPr lang="en-US" sz="1100" dirty="0">
                <a:solidFill>
                  <a:srgbClr val="34D399"/>
                </a:solidFill>
                <a:latin typeface="Consolas" pitchFamily="34" charset="0"/>
                <a:ea typeface="Consolas" pitchFamily="34" charset="-122"/>
                <a:cs typeface="Consolas" pitchFamily="34" charset="-120"/>
              </a:rPr>
              <a:t>soroban-sdk v26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512"/>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FBF87"/>
          </a:solidFill>
          <a:ln/>
        </p:spPr>
      </p:sp>
      <p:sp>
        <p:nvSpPr>
          <p:cNvPr id="3" name="Shape 1"/>
          <p:cNvSpPr/>
          <p:nvPr/>
        </p:nvSpPr>
        <p:spPr>
          <a:xfrm>
            <a:off x="548640" y="365760"/>
            <a:ext cx="310896" cy="310896"/>
          </a:xfrm>
          <a:prstGeom prst="roundRect">
            <a:avLst>
              <a:gd name="adj" fmla="val 17647"/>
            </a:avLst>
          </a:prstGeom>
          <a:solidFill>
            <a:srgbClr val="2FBF87"/>
          </a:solidFill>
          <a:ln/>
        </p:spPr>
      </p:sp>
      <p:sp>
        <p:nvSpPr>
          <p:cNvPr id="4" name="Text 2"/>
          <p:cNvSpPr/>
          <p:nvPr/>
        </p:nvSpPr>
        <p:spPr>
          <a:xfrm>
            <a:off x="548640" y="365760"/>
            <a:ext cx="310896" cy="310896"/>
          </a:xfrm>
          <a:prstGeom prst="rect">
            <a:avLst/>
          </a:prstGeom>
          <a:noFill/>
          <a:ln/>
        </p:spPr>
        <p:txBody>
          <a:bodyPr wrap="square" rtlCol="0" anchor="ctr"/>
          <a:lstStyle/>
          <a:p>
            <a:pPr algn="ctr" indent="0" marL="0">
              <a:buNone/>
            </a:pPr>
            <a:r>
              <a:rPr lang="en-US" sz="1500" b="1" dirty="0">
                <a:solidFill>
                  <a:srgbClr val="0B1512"/>
                </a:solidFill>
                <a:latin typeface="Arial" pitchFamily="34" charset="0"/>
                <a:ea typeface="Arial" pitchFamily="34" charset="-122"/>
                <a:cs typeface="Arial" pitchFamily="34" charset="-120"/>
              </a:rPr>
              <a:t>P</a:t>
            </a:r>
            <a:endParaRPr lang="en-US" sz="1500" dirty="0"/>
          </a:p>
        </p:txBody>
      </p:sp>
      <p:sp>
        <p:nvSpPr>
          <p:cNvPr id="5" name="Text 3"/>
          <p:cNvSpPr/>
          <p:nvPr/>
        </p:nvSpPr>
        <p:spPr>
          <a:xfrm>
            <a:off x="932688" y="365760"/>
            <a:ext cx="2743200" cy="310896"/>
          </a:xfrm>
          <a:prstGeom prst="rect">
            <a:avLst/>
          </a:prstGeom>
          <a:noFill/>
          <a:ln/>
        </p:spPr>
        <p:txBody>
          <a:bodyPr wrap="square" rtlCol="0" anchor="ctr"/>
          <a:lstStyle/>
          <a:p>
            <a:pPr indent="0" marL="0">
              <a:buNone/>
            </a:pPr>
            <a:r>
              <a:rPr lang="en-US" sz="1500" b="1" spc="200" kern="0" dirty="0">
                <a:solidFill>
                  <a:srgbClr val="FFFFFF"/>
                </a:solidFill>
                <a:latin typeface="Arial" pitchFamily="34" charset="0"/>
                <a:ea typeface="Arial" pitchFamily="34" charset="-122"/>
                <a:cs typeface="Arial" pitchFamily="34" charset="-120"/>
              </a:rPr>
              <a:t>PACTA</a:t>
            </a:r>
            <a:endParaRPr lang="en-US" sz="1500" dirty="0"/>
          </a:p>
        </p:txBody>
      </p:sp>
      <p:sp>
        <p:nvSpPr>
          <p:cNvPr id="6" name="Text 4"/>
          <p:cNvSpPr/>
          <p:nvPr/>
        </p:nvSpPr>
        <p:spPr>
          <a:xfrm>
            <a:off x="10271455" y="365760"/>
            <a:ext cx="1371600" cy="310896"/>
          </a:xfrm>
          <a:prstGeom prst="rect">
            <a:avLst/>
          </a:prstGeom>
          <a:noFill/>
          <a:ln/>
        </p:spPr>
        <p:txBody>
          <a:bodyPr wrap="square" rtlCol="0" anchor="ctr"/>
          <a:lstStyle/>
          <a:p>
            <a:pPr algn="r" indent="0" marL="0">
              <a:buNone/>
            </a:pPr>
            <a:r>
              <a:rPr lang="en-US" sz="1100" dirty="0">
                <a:solidFill>
                  <a:srgbClr val="A7B8B0"/>
                </a:solidFill>
                <a:latin typeface="Consolas" pitchFamily="34" charset="0"/>
                <a:ea typeface="Consolas" pitchFamily="34" charset="-122"/>
                <a:cs typeface="Consolas" pitchFamily="34" charset="-120"/>
              </a:rPr>
              <a:t>07 / 07</a:t>
            </a:r>
            <a:endParaRPr lang="en-US" sz="1100" dirty="0"/>
          </a:p>
        </p:txBody>
      </p:sp>
      <p:sp>
        <p:nvSpPr>
          <p:cNvPr id="7" name="Text 5"/>
          <p:cNvSpPr/>
          <p:nvPr/>
        </p:nvSpPr>
        <p:spPr>
          <a:xfrm>
            <a:off x="548640" y="6437376"/>
            <a:ext cx="8229600" cy="274320"/>
          </a:xfrm>
          <a:prstGeom prst="rect">
            <a:avLst/>
          </a:prstGeom>
          <a:noFill/>
          <a:ln/>
        </p:spPr>
        <p:txBody>
          <a:bodyPr wrap="square" rtlCol="0" anchor="ctr"/>
          <a:lstStyle/>
          <a:p>
            <a:pPr indent="0" marL="0">
              <a:buNone/>
            </a:pPr>
            <a:r>
              <a:rPr lang="en-US" sz="900" dirty="0">
                <a:solidFill>
                  <a:srgbClr val="A7B8B0"/>
                </a:solidFill>
                <a:latin typeface="Consolas" pitchFamily="34" charset="0"/>
                <a:ea typeface="Consolas" pitchFamily="34" charset="-122"/>
                <a:cs typeface="Consolas" pitchFamily="34" charset="-120"/>
              </a:rPr>
              <a:t>getpacta.app   ·   Trust, written in code.</a:t>
            </a:r>
            <a:endParaRPr lang="en-US" sz="900" dirty="0"/>
          </a:p>
        </p:txBody>
      </p:sp>
      <p:sp>
        <p:nvSpPr>
          <p:cNvPr id="8" name="Text 6"/>
          <p:cNvSpPr/>
          <p:nvPr/>
        </p:nvSpPr>
        <p:spPr>
          <a:xfrm>
            <a:off x="548640" y="868680"/>
            <a:ext cx="11064240" cy="548640"/>
          </a:xfrm>
          <a:prstGeom prst="rect">
            <a:avLst/>
          </a:prstGeom>
          <a:noFill/>
          <a:ln/>
        </p:spPr>
        <p:txBody>
          <a:bodyPr wrap="square" rtlCol="0" anchor="ctr"/>
          <a:lstStyle/>
          <a:p>
            <a:pPr indent="0" marL="0">
              <a:buNone/>
            </a:pPr>
            <a:r>
              <a:rPr lang="en-US" sz="2600" b="1" dirty="0">
                <a:solidFill>
                  <a:srgbClr val="FFFFFF"/>
                </a:solidFill>
                <a:latin typeface="Arial" pitchFamily="34" charset="0"/>
                <a:ea typeface="Arial" pitchFamily="34" charset="-122"/>
                <a:cs typeface="Arial" pitchFamily="34" charset="-120"/>
              </a:rPr>
              <a:t>Where PACTA Sits  (Appendix)</a:t>
            </a:r>
            <a:endParaRPr lang="en-US" sz="2600" dirty="0"/>
          </a:p>
        </p:txBody>
      </p:sp>
      <p:sp>
        <p:nvSpPr>
          <p:cNvPr id="9" name="Shape 7"/>
          <p:cNvSpPr/>
          <p:nvPr/>
        </p:nvSpPr>
        <p:spPr>
          <a:xfrm>
            <a:off x="566928" y="1417320"/>
            <a:ext cx="822960" cy="41148"/>
          </a:xfrm>
          <a:prstGeom prst="rect">
            <a:avLst/>
          </a:prstGeom>
          <a:solidFill>
            <a:srgbClr val="2FBF87"/>
          </a:solidFill>
          <a:ln/>
        </p:spPr>
      </p:sp>
      <p:sp>
        <p:nvSpPr>
          <p:cNvPr id="10" name="Text 8"/>
          <p:cNvSpPr/>
          <p:nvPr/>
        </p:nvSpPr>
        <p:spPr>
          <a:xfrm>
            <a:off x="640080" y="1737360"/>
            <a:ext cx="10972800" cy="2377440"/>
          </a:xfrm>
          <a:prstGeom prst="rect">
            <a:avLst/>
          </a:prstGeom>
          <a:noFill/>
          <a:ln/>
        </p:spPr>
        <p:txBody>
          <a:bodyPr wrap="square" rtlCol="0" anchor="t"/>
          <a:lstStyle/>
          <a:p>
            <a:pPr marL="177800" indent="-177800">
              <a:spcAft>
                <a:spcPts val="800"/>
              </a:spcAft>
              <a:buSzPct val="100000"/>
              <a:buChar char="•"/>
            </a:pPr>
            <a:r>
              <a:rPr lang="en-US" sz="1400" dirty="0">
                <a:solidFill>
                  <a:srgbClr val="A7B8B0"/>
                </a:solidFill>
                <a:latin typeface="Arial" pitchFamily="34" charset="0"/>
                <a:ea typeface="Arial" pitchFamily="34" charset="-122"/>
                <a:cs typeface="Arial" pitchFamily="34" charset="-120"/>
              </a:rPr>
              <a:t>Privacy pools (Tukar, OLIO, Stellar Private Pool): hide payments. Privacy is not protection.</a:t>
            </a:r>
            <a:endParaRPr lang="en-US" sz="1400" dirty="0"/>
          </a:p>
          <a:p>
            <a:pPr marL="177800" indent="-177800">
              <a:spcAft>
                <a:spcPts val="800"/>
              </a:spcAft>
              <a:buSzPct val="100000"/>
              <a:buChar char="•"/>
            </a:pPr>
            <a:r>
              <a:rPr lang="en-US" sz="1400" dirty="0">
                <a:solidFill>
                  <a:srgbClr val="A7B8B0"/>
                </a:solidFill>
                <a:latin typeface="Arial" pitchFamily="34" charset="0"/>
                <a:ea typeface="Arial" pitchFamily="34" charset="-122"/>
                <a:cs typeface="Arial" pitchFamily="34" charset="-120"/>
              </a:rPr>
              <a:t>Payoes: a B2B merchant payment gateway. Infrastructure, not a consumer app.</a:t>
            </a:r>
            <a:endParaRPr lang="en-US" sz="1400" dirty="0"/>
          </a:p>
          <a:p>
            <a:pPr marL="177800" indent="-177800">
              <a:spcAft>
                <a:spcPts val="800"/>
              </a:spcAft>
              <a:buSzPct val="100000"/>
              <a:buChar char="•"/>
            </a:pPr>
            <a:r>
              <a:rPr lang="en-US" sz="1400" dirty="0">
                <a:solidFill>
                  <a:srgbClr val="A7B8B0"/>
                </a:solidFill>
                <a:latin typeface="Arial" pitchFamily="34" charset="0"/>
                <a:ea typeface="Arial" pitchFamily="34" charset="-122"/>
                <a:cs typeface="Arial" pitchFamily="34" charset="-120"/>
              </a:rPr>
              <a:t>PalengkePay: vendor micropayments and credit. A vertical, with no deliverable protection.</a:t>
            </a:r>
            <a:endParaRPr lang="en-US" sz="1400" dirty="0"/>
          </a:p>
          <a:p>
            <a:pPr marL="177800" indent="-177800">
              <a:spcAft>
                <a:spcPts val="800"/>
              </a:spcAft>
              <a:buSzPct val="100000"/>
              <a:buChar char="•"/>
            </a:pPr>
            <a:r>
              <a:rPr lang="en-US" sz="1400" dirty="0">
                <a:solidFill>
                  <a:srgbClr val="A7B8B0"/>
                </a:solidFill>
                <a:latin typeface="Arial" pitchFamily="34" charset="0"/>
                <a:ea typeface="Arial" pitchFamily="34" charset="-122"/>
                <a:cs typeface="Arial" pitchFamily="34" charset="-120"/>
              </a:rPr>
              <a:t>Pundar: group savings, but custodial (stores user seeds).</a:t>
            </a:r>
            <a:endParaRPr lang="en-US" sz="1400" dirty="0"/>
          </a:p>
          <a:p>
            <a:pPr marL="177800" indent="-177800">
              <a:spcAft>
                <a:spcPts val="800"/>
              </a:spcAft>
              <a:buSzPct val="100000"/>
              <a:buChar char="•"/>
            </a:pPr>
            <a:r>
              <a:rPr lang="en-US" sz="1400" dirty="0">
                <a:solidFill>
                  <a:srgbClr val="A7B8B0"/>
                </a:solidFill>
                <a:latin typeface="Arial" pitchFamily="34" charset="0"/>
                <a:ea typeface="Arial" pitchFamily="34" charset="-122"/>
                <a:cs typeface="Arial" pitchFamily="34" charset="-120"/>
              </a:rPr>
              <a:t>PACTA: the consumer TRUST LAYER: the only one that makes paying a stranger safe.</a:t>
            </a:r>
            <a:endParaRPr lang="en-US" sz="1400" dirty="0"/>
          </a:p>
        </p:txBody>
      </p:sp>
      <p:sp>
        <p:nvSpPr>
          <p:cNvPr id="11" name="Shape 9"/>
          <p:cNvSpPr/>
          <p:nvPr/>
        </p:nvSpPr>
        <p:spPr>
          <a:xfrm>
            <a:off x="548640" y="4160520"/>
            <a:ext cx="11091672" cy="1828800"/>
          </a:xfrm>
          <a:prstGeom prst="roundRect">
            <a:avLst>
              <a:gd name="adj" fmla="val 4000"/>
            </a:avLst>
          </a:prstGeom>
          <a:solidFill>
            <a:srgbClr val="11211A"/>
          </a:solidFill>
          <a:ln w="12700">
            <a:solidFill>
              <a:srgbClr val="20402F"/>
            </a:solidFill>
            <a:prstDash val="solid"/>
          </a:ln>
        </p:spPr>
      </p:sp>
      <p:sp>
        <p:nvSpPr>
          <p:cNvPr id="12" name="Text 10"/>
          <p:cNvSpPr/>
          <p:nvPr/>
        </p:nvSpPr>
        <p:spPr>
          <a:xfrm>
            <a:off x="749808" y="4279392"/>
            <a:ext cx="10058400" cy="320040"/>
          </a:xfrm>
          <a:prstGeom prst="rect">
            <a:avLst/>
          </a:prstGeom>
          <a:noFill/>
          <a:ln/>
        </p:spPr>
        <p:txBody>
          <a:bodyPr wrap="square" rtlCol="0" anchor="ctr"/>
          <a:lstStyle/>
          <a:p>
            <a:pPr indent="0" marL="0">
              <a:buNone/>
            </a:pPr>
            <a:r>
              <a:rPr lang="en-US" sz="1300" b="1" dirty="0">
                <a:solidFill>
                  <a:srgbClr val="34D399"/>
                </a:solidFill>
                <a:latin typeface="Arial" pitchFamily="34" charset="0"/>
                <a:ea typeface="Arial" pitchFamily="34" charset="-122"/>
                <a:cs typeface="Arial" pitchFamily="34" charset="-120"/>
              </a:rPr>
              <a:t>Q&amp;A ready:</a:t>
            </a:r>
            <a:endParaRPr lang="en-US" sz="1300" dirty="0"/>
          </a:p>
        </p:txBody>
      </p:sp>
      <p:sp>
        <p:nvSpPr>
          <p:cNvPr id="13" name="Text 11"/>
          <p:cNvSpPr/>
          <p:nvPr/>
        </p:nvSpPr>
        <p:spPr>
          <a:xfrm>
            <a:off x="749808" y="4617720"/>
            <a:ext cx="10698480" cy="1280160"/>
          </a:xfrm>
          <a:prstGeom prst="rect">
            <a:avLst/>
          </a:prstGeom>
          <a:noFill/>
          <a:ln/>
        </p:spPr>
        <p:txBody>
          <a:bodyPr wrap="square" rtlCol="0" anchor="t"/>
          <a:lstStyle/>
          <a:p>
            <a:pPr marL="177800" indent="-177800">
              <a:spcAft>
                <a:spcPts val="800"/>
              </a:spcAft>
              <a:buSzPct val="100000"/>
              <a:buChar char="•"/>
            </a:pPr>
            <a:r>
              <a:rPr lang="en-US" sz="1150" dirty="0">
                <a:solidFill>
                  <a:srgbClr val="A7B8B0"/>
                </a:solidFill>
                <a:latin typeface="Arial" pitchFamily="34" charset="0"/>
                <a:ea typeface="Arial" pitchFamily="34" charset="-122"/>
                <a:cs typeface="Arial" pitchFamily="34" charset="-120"/>
              </a:rPr>
              <a:t>Revenue: small protocol fee on protected sends; later premium reputation + Pay-with-Pacta SDK (roadmap).</a:t>
            </a:r>
            <a:endParaRPr lang="en-US" sz="1150" dirty="0"/>
          </a:p>
          <a:p>
            <a:pPr marL="177800" indent="-177800">
              <a:spcAft>
                <a:spcPts val="800"/>
              </a:spcAft>
              <a:buSzPct val="100000"/>
              <a:buChar char="•"/>
            </a:pPr>
            <a:r>
              <a:rPr lang="en-US" sz="1150" dirty="0">
                <a:solidFill>
                  <a:srgbClr val="A7B8B0"/>
                </a:solidFill>
                <a:latin typeface="Arial" pitchFamily="34" charset="0"/>
                <a:ea typeface="Arial" pitchFamily="34" charset="-122"/>
                <a:cs typeface="Arial" pitchFamily="34" charset="-120"/>
              </a:rPr>
              <a:t>Sybil: addresses are free, collateral is not; every identity must post a forfeitable bond. KYC adds a real-identity gate.</a:t>
            </a:r>
            <a:endParaRPr lang="en-US" sz="1150" dirty="0"/>
          </a:p>
          <a:p>
            <a:pPr marL="177800" indent="-177800">
              <a:spcAft>
                <a:spcPts val="800"/>
              </a:spcAft>
              <a:buSzPct val="100000"/>
              <a:buChar char="•"/>
            </a:pPr>
            <a:r>
              <a:rPr lang="en-US" sz="1150" dirty="0">
                <a:solidFill>
                  <a:srgbClr val="A7B8B0"/>
                </a:solidFill>
                <a:latin typeface="Arial" pitchFamily="34" charset="0"/>
                <a:ea typeface="Arial" pitchFamily="34" charset="-122"/>
                <a:cs typeface="Arial" pitchFamily="34" charset="-120"/>
              </a:rPr>
              <a:t>Moat: portable, user-owned reputation network effect + neutral non-custodial trust layer.</a:t>
            </a:r>
            <a:endParaRPr lang="en-US" sz="1150" dirty="0"/>
          </a:p>
          <a:p>
            <a:pPr marL="177800" indent="-177800">
              <a:spcAft>
                <a:spcPts val="800"/>
              </a:spcAft>
              <a:buSzPct val="100000"/>
              <a:buChar char="•"/>
            </a:pPr>
            <a:r>
              <a:rPr lang="en-US" sz="1150" dirty="0">
                <a:solidFill>
                  <a:srgbClr val="A7B8B0"/>
                </a:solidFill>
                <a:latin typeface="Arial" pitchFamily="34" charset="0"/>
                <a:ea typeface="Arial" pitchFamily="34" charset="-122"/>
                <a:cs typeface="Arial" pitchFamily="34" charset="-120"/>
              </a:rPr>
              <a:t>Why Stellar: non-custodial, cheap, fast finality, native DEX, SEA remittance rails, live on mainnet.</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PACTA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PACTA Pitch Deck</dc:title>
  <dc:subject>PptxGenJS Presentation</dc:subject>
  <dc:creator>PACTA</dc:creator>
  <cp:lastModifiedBy>PACTA</cp:lastModifiedBy>
  <cp:revision>1</cp:revision>
  <dcterms:created xsi:type="dcterms:W3CDTF">2026-07-31T04:42:26Z</dcterms:created>
  <dcterms:modified xsi:type="dcterms:W3CDTF">2026-07-31T04:42:26Z</dcterms:modified>
</cp:coreProperties>
</file>