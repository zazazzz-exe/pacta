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(35s): Money moves on blind trust. Wallets = no protection. Platforms = up to 20% and own your reputation. $35B market, two-thirds underbanked, millions offline daily. Neither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(45s): PACTA is a normal wallet; the difference is one button, Send Protected, which creates a Pact (Soroban escrow). Honest framing: naive escrow is not safe because code cannot claw funds back once sent, so we protect with the two enforceable mechanics, staged release + recipient bond. Deliver, earn it back; walk away, sender reclaims funds plus bond. Monetization: small protocol fee on protected sends, a fraction of Upwork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Wallet layer = everyday hub (non-custodial, send/receive/convert, offline, PWA). Protection layer = the Pact (staged release, bond, reputation, Risk Lens, KYC, provable). Bottom strip = differentiators. All shipped and live on mainnet.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(30s): three layers. No backend for money: the Soroban contract is the backend; wallet layer takes no custody. Only server code = stateless Risk Lens (Gemini) + off-chain KYC (Supabase). Contract logic hand-reviewed and hardened; Risk Lens stats deterministic in code, AI only translates.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DEMO (35s): "Tonight you have seen ways to move money privately, cheaply, and automatically. PACTA is the only one that makes it SAFE when you do not trust who you are paying, live on mainnet at getpacta.app." Then run the flow (or show the recorded backup). End: "Trust, written in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01 / 05</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01 · PROBLEM STATEMENT</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Money Moves on Blind Trust</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5623560" cy="1371600"/>
          </a:xfrm>
          <a:prstGeom prst="roundRect">
            <a:avLst>
              <a:gd name="adj" fmla="val 6000"/>
            </a:avLst>
          </a:prstGeom>
          <a:solidFill>
            <a:srgbClr val="11211A"/>
          </a:solidFill>
          <a:ln w="12700">
            <a:solidFill>
              <a:srgbClr val="2FBF87"/>
            </a:solidFill>
            <a:prstDash val="solid"/>
          </a:ln>
        </p:spPr>
      </p:sp>
      <p:sp>
        <p:nvSpPr>
          <p:cNvPr id="15" name="Shape 13"/>
          <p:cNvSpPr/>
          <p:nvPr/>
        </p:nvSpPr>
        <p:spPr>
          <a:xfrm>
            <a:off x="548640" y="2121408"/>
            <a:ext cx="64008" cy="1152144"/>
          </a:xfrm>
          <a:prstGeom prst="rect">
            <a:avLst/>
          </a:prstGeom>
          <a:solidFill>
            <a:srgbClr val="2FBF87"/>
          </a:solidFill>
          <a:ln/>
        </p:spPr>
      </p:sp>
      <p:sp>
        <p:nvSpPr>
          <p:cNvPr id="16" name="Text 14"/>
          <p:cNvSpPr/>
          <p:nvPr/>
        </p:nvSpPr>
        <p:spPr>
          <a:xfrm>
            <a:off x="768096" y="2139696"/>
            <a:ext cx="5257800" cy="868680"/>
          </a:xfrm>
          <a:prstGeom prst="rect">
            <a:avLst/>
          </a:prstGeom>
          <a:noFill/>
          <a:ln/>
        </p:spPr>
        <p:txBody>
          <a:bodyPr wrap="square" rtlCol="0" anchor="ctr"/>
          <a:lstStyle/>
          <a:p>
            <a:pPr indent="0" marL="0">
              <a:lnSpc>
                <a:spcPct val="105000"/>
              </a:lnSpc>
              <a:buNone/>
            </a:pPr>
            <a:r>
              <a:rPr lang="en-US" sz="1400" i="1" dirty="0">
                <a:solidFill>
                  <a:srgbClr val="FFFFFF"/>
                </a:solidFill>
                <a:latin typeface="Arial" pitchFamily="34" charset="0"/>
                <a:ea typeface="Arial" pitchFamily="34" charset="-122"/>
                <a:cs typeface="Arial" pitchFamily="34" charset="-120"/>
              </a:rPr>
              <a:t>"Marco paid ₱10,000 upfront for a logo. Three days later, the designer vanished. No work, no refund."</a:t>
            </a:r>
            <a:endParaRPr lang="en-US" sz="1400" dirty="0"/>
          </a:p>
        </p:txBody>
      </p:sp>
      <p:sp>
        <p:nvSpPr>
          <p:cNvPr id="17" name="Text 15"/>
          <p:cNvSpPr/>
          <p:nvPr/>
        </p:nvSpPr>
        <p:spPr>
          <a:xfrm>
            <a:off x="768096" y="2999232"/>
            <a:ext cx="5257800" cy="320040"/>
          </a:xfrm>
          <a:prstGeom prst="rect">
            <a:avLst/>
          </a:prstGeom>
          <a:noFill/>
          <a:ln/>
        </p:spPr>
        <p:txBody>
          <a:bodyPr wrap="square" rtlCol="0" anchor="ctr"/>
          <a:lstStyle/>
          <a:p>
            <a:pPr indent="0" marL="0">
              <a:buNone/>
            </a:pPr>
            <a:r>
              <a:rPr lang="en-US" sz="1100" dirty="0">
                <a:solidFill>
                  <a:srgbClr val="9DB2A8"/>
                </a:solidFill>
                <a:latin typeface="Arial" pitchFamily="34" charset="0"/>
                <a:ea typeface="Arial" pitchFamily="34" charset="-122"/>
                <a:cs typeface="Arial" pitchFamily="34" charset="-120"/>
              </a:rPr>
              <a:t>millions of freelancers and buyers face this daily in SEA</a:t>
            </a:r>
            <a:endParaRPr lang="en-US" sz="1100" dirty="0"/>
          </a:p>
        </p:txBody>
      </p:sp>
      <p:sp>
        <p:nvSpPr>
          <p:cNvPr id="18" name="Shape 16"/>
          <p:cNvSpPr/>
          <p:nvPr/>
        </p:nvSpPr>
        <p:spPr>
          <a:xfrm>
            <a:off x="548640" y="3566160"/>
            <a:ext cx="5623560" cy="2331720"/>
          </a:xfrm>
          <a:prstGeom prst="roundRect">
            <a:avLst>
              <a:gd name="adj" fmla="val 3529"/>
            </a:avLst>
          </a:prstGeom>
          <a:solidFill>
            <a:srgbClr val="11211A"/>
          </a:solidFill>
          <a:ln w="12700">
            <a:solidFill>
              <a:srgbClr val="24422F"/>
            </a:solidFill>
            <a:prstDash val="solid"/>
          </a:ln>
        </p:spPr>
      </p:sp>
      <p:sp>
        <p:nvSpPr>
          <p:cNvPr id="19" name="Text 17"/>
          <p:cNvSpPr/>
          <p:nvPr/>
        </p:nvSpPr>
        <p:spPr>
          <a:xfrm>
            <a:off x="768096" y="3749040"/>
            <a:ext cx="5257800" cy="1965960"/>
          </a:xfrm>
          <a:prstGeom prst="rect">
            <a:avLst/>
          </a:prstGeom>
          <a:noFill/>
          <a:ln/>
        </p:spPr>
        <p:txBody>
          <a:bodyPr wrap="square" rtlCol="0" anchor="t"/>
          <a:lstStyle/>
          <a:p>
            <a:pPr marL="190500" indent="-190500">
              <a:spcAft>
                <a:spcPts val="900"/>
              </a:spcAft>
              <a:buSzPct val="100000"/>
              <a:buChar char="•"/>
            </a:pPr>
            <a:r>
              <a:rPr lang="en-US" sz="1200" dirty="0">
                <a:solidFill>
                  <a:srgbClr val="9DB2A8"/>
                </a:solidFill>
                <a:latin typeface="Arial" pitchFamily="34" charset="0"/>
                <a:ea typeface="Arial" pitchFamily="34" charset="-122"/>
                <a:cs typeface="Arial" pitchFamily="34" charset="-120"/>
              </a:rPr>
              <a:t>Pay &amp; pray: direct transfers leave buyers unprotected the moment funds leave the wallet.</a:t>
            </a:r>
            <a:endParaRPr lang="en-US" sz="1200" dirty="0"/>
          </a:p>
          <a:p>
            <a:pPr marL="190500" indent="-190500">
              <a:spcAft>
                <a:spcPts val="900"/>
              </a:spcAft>
              <a:buSzPct val="100000"/>
              <a:buChar char="•"/>
            </a:pPr>
            <a:r>
              <a:rPr lang="en-US" sz="1200" dirty="0">
                <a:solidFill>
                  <a:srgbClr val="9DB2A8"/>
                </a:solidFill>
                <a:latin typeface="Arial" pitchFamily="34" charset="0"/>
                <a:ea typeface="Arial" pitchFamily="34" charset="-122"/>
                <a:cs typeface="Arial" pitchFamily="34" charset="-120"/>
              </a:rPr>
              <a:t>Platforms own your trust: Upwork/Fiverr take 10-20% and keep your reputation; PayPal protection excludes most PH service deals.</a:t>
            </a:r>
            <a:endParaRPr lang="en-US" sz="1200" dirty="0"/>
          </a:p>
          <a:p>
            <a:pPr marL="190500" indent="-190500">
              <a:spcAft>
                <a:spcPts val="900"/>
              </a:spcAft>
              <a:buSzPct val="100000"/>
              <a:buChar char="•"/>
            </a:pPr>
            <a:r>
              <a:rPr lang="en-US" sz="1200" dirty="0">
                <a:solidFill>
                  <a:srgbClr val="9DB2A8"/>
                </a:solidFill>
                <a:latin typeface="Arial" pitchFamily="34" charset="0"/>
                <a:ea typeface="Arial" pitchFamily="34" charset="-122"/>
                <a:cs typeface="Arial" pitchFamily="34" charset="-120"/>
              </a:rPr>
              <a:t>Connectivity drops: signal loss in emerging markets strands payments mid-flow.</a:t>
            </a:r>
            <a:endParaRPr lang="en-US" sz="1200" dirty="0"/>
          </a:p>
        </p:txBody>
      </p:sp>
      <p:sp>
        <p:nvSpPr>
          <p:cNvPr id="20" name="Shape 18"/>
          <p:cNvSpPr/>
          <p:nvPr/>
        </p:nvSpPr>
        <p:spPr>
          <a:xfrm>
            <a:off x="6446520" y="2011680"/>
            <a:ext cx="2697480" cy="1600200"/>
          </a:xfrm>
          <a:prstGeom prst="roundRect">
            <a:avLst>
              <a:gd name="adj" fmla="val 5143"/>
            </a:avLst>
          </a:prstGeom>
          <a:solidFill>
            <a:srgbClr val="11211A"/>
          </a:solidFill>
          <a:ln w="12700">
            <a:solidFill>
              <a:srgbClr val="24422F"/>
            </a:solidFill>
            <a:prstDash val="solid"/>
          </a:ln>
        </p:spPr>
      </p:sp>
      <p:sp>
        <p:nvSpPr>
          <p:cNvPr id="21" name="Shape 19"/>
          <p:cNvSpPr/>
          <p:nvPr/>
        </p:nvSpPr>
        <p:spPr>
          <a:xfrm>
            <a:off x="6647688" y="2194560"/>
            <a:ext cx="457200" cy="45720"/>
          </a:xfrm>
          <a:prstGeom prst="rect">
            <a:avLst/>
          </a:prstGeom>
          <a:solidFill>
            <a:srgbClr val="2FBF87"/>
          </a:solidFill>
          <a:ln/>
        </p:spPr>
      </p:sp>
      <p:sp>
        <p:nvSpPr>
          <p:cNvPr id="22" name="Text 20"/>
          <p:cNvSpPr/>
          <p:nvPr/>
        </p:nvSpPr>
        <p:spPr>
          <a:xfrm>
            <a:off x="6647688" y="232257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$35.6B</a:t>
            </a:r>
            <a:endParaRPr lang="en-US" sz="3000" dirty="0"/>
          </a:p>
        </p:txBody>
      </p:sp>
      <p:sp>
        <p:nvSpPr>
          <p:cNvPr id="23" name="Text 21"/>
          <p:cNvSpPr/>
          <p:nvPr/>
        </p:nvSpPr>
        <p:spPr>
          <a:xfrm>
            <a:off x="6647688" y="299923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PH remittance &amp; services market</a:t>
            </a:r>
            <a:endParaRPr lang="en-US" sz="1050" dirty="0"/>
          </a:p>
        </p:txBody>
      </p:sp>
      <p:sp>
        <p:nvSpPr>
          <p:cNvPr id="24" name="Shape 22"/>
          <p:cNvSpPr/>
          <p:nvPr/>
        </p:nvSpPr>
        <p:spPr>
          <a:xfrm>
            <a:off x="9308592" y="2011680"/>
            <a:ext cx="2697480" cy="1600200"/>
          </a:xfrm>
          <a:prstGeom prst="roundRect">
            <a:avLst>
              <a:gd name="adj" fmla="val 5143"/>
            </a:avLst>
          </a:prstGeom>
          <a:solidFill>
            <a:srgbClr val="11211A"/>
          </a:solidFill>
          <a:ln w="12700">
            <a:solidFill>
              <a:srgbClr val="24422F"/>
            </a:solidFill>
            <a:prstDash val="solid"/>
          </a:ln>
        </p:spPr>
      </p:sp>
      <p:sp>
        <p:nvSpPr>
          <p:cNvPr id="25" name="Shape 23"/>
          <p:cNvSpPr/>
          <p:nvPr/>
        </p:nvSpPr>
        <p:spPr>
          <a:xfrm>
            <a:off x="9509760" y="2194560"/>
            <a:ext cx="457200" cy="45720"/>
          </a:xfrm>
          <a:prstGeom prst="rect">
            <a:avLst/>
          </a:prstGeom>
          <a:solidFill>
            <a:srgbClr val="2FBF87"/>
          </a:solidFill>
          <a:ln/>
        </p:spPr>
      </p:sp>
      <p:sp>
        <p:nvSpPr>
          <p:cNvPr id="26" name="Text 24"/>
          <p:cNvSpPr/>
          <p:nvPr/>
        </p:nvSpPr>
        <p:spPr>
          <a:xfrm>
            <a:off x="9509760" y="232257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6.36%</a:t>
            </a:r>
            <a:endParaRPr lang="en-US" sz="3000" dirty="0"/>
          </a:p>
        </p:txBody>
      </p:sp>
      <p:sp>
        <p:nvSpPr>
          <p:cNvPr id="27" name="Text 25"/>
          <p:cNvSpPr/>
          <p:nvPr/>
        </p:nvSpPr>
        <p:spPr>
          <a:xfrm>
            <a:off x="9509760" y="299923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avg fee to send $200 home</a:t>
            </a:r>
            <a:endParaRPr lang="en-US" sz="1050" dirty="0"/>
          </a:p>
        </p:txBody>
      </p:sp>
      <p:sp>
        <p:nvSpPr>
          <p:cNvPr id="28" name="Shape 26"/>
          <p:cNvSpPr/>
          <p:nvPr/>
        </p:nvSpPr>
        <p:spPr>
          <a:xfrm>
            <a:off x="6446520" y="3794760"/>
            <a:ext cx="2697480" cy="1600200"/>
          </a:xfrm>
          <a:prstGeom prst="roundRect">
            <a:avLst>
              <a:gd name="adj" fmla="val 5143"/>
            </a:avLst>
          </a:prstGeom>
          <a:solidFill>
            <a:srgbClr val="11211A"/>
          </a:solidFill>
          <a:ln w="12700">
            <a:solidFill>
              <a:srgbClr val="24422F"/>
            </a:solidFill>
            <a:prstDash val="solid"/>
          </a:ln>
        </p:spPr>
      </p:sp>
      <p:sp>
        <p:nvSpPr>
          <p:cNvPr id="29" name="Shape 27"/>
          <p:cNvSpPr/>
          <p:nvPr/>
        </p:nvSpPr>
        <p:spPr>
          <a:xfrm>
            <a:off x="6647688" y="3977640"/>
            <a:ext cx="457200" cy="45720"/>
          </a:xfrm>
          <a:prstGeom prst="rect">
            <a:avLst/>
          </a:prstGeom>
          <a:solidFill>
            <a:srgbClr val="2FBF87"/>
          </a:solidFill>
          <a:ln/>
        </p:spPr>
      </p:sp>
      <p:sp>
        <p:nvSpPr>
          <p:cNvPr id="30" name="Text 28"/>
          <p:cNvSpPr/>
          <p:nvPr/>
        </p:nvSpPr>
        <p:spPr>
          <a:xfrm>
            <a:off x="6647688" y="410565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66%</a:t>
            </a:r>
            <a:endParaRPr lang="en-US" sz="3000" dirty="0"/>
          </a:p>
        </p:txBody>
      </p:sp>
      <p:sp>
        <p:nvSpPr>
          <p:cNvPr id="31" name="Text 29"/>
          <p:cNvSpPr/>
          <p:nvPr/>
        </p:nvSpPr>
        <p:spPr>
          <a:xfrm>
            <a:off x="6647688" y="478231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underserved by banks</a:t>
            </a:r>
            <a:endParaRPr lang="en-US" sz="1050" dirty="0"/>
          </a:p>
        </p:txBody>
      </p:sp>
      <p:sp>
        <p:nvSpPr>
          <p:cNvPr id="32" name="Shape 30"/>
          <p:cNvSpPr/>
          <p:nvPr/>
        </p:nvSpPr>
        <p:spPr>
          <a:xfrm>
            <a:off x="9308592" y="3794760"/>
            <a:ext cx="2697480" cy="1600200"/>
          </a:xfrm>
          <a:prstGeom prst="roundRect">
            <a:avLst>
              <a:gd name="adj" fmla="val 5143"/>
            </a:avLst>
          </a:prstGeom>
          <a:solidFill>
            <a:srgbClr val="11211A"/>
          </a:solidFill>
          <a:ln w="12700">
            <a:solidFill>
              <a:srgbClr val="24422F"/>
            </a:solidFill>
            <a:prstDash val="solid"/>
          </a:ln>
        </p:spPr>
      </p:sp>
      <p:sp>
        <p:nvSpPr>
          <p:cNvPr id="33" name="Shape 31"/>
          <p:cNvSpPr/>
          <p:nvPr/>
        </p:nvSpPr>
        <p:spPr>
          <a:xfrm>
            <a:off x="9509760" y="3977640"/>
            <a:ext cx="457200" cy="45720"/>
          </a:xfrm>
          <a:prstGeom prst="rect">
            <a:avLst/>
          </a:prstGeom>
          <a:solidFill>
            <a:srgbClr val="2FBF87"/>
          </a:solidFill>
          <a:ln/>
        </p:spPr>
      </p:sp>
      <p:sp>
        <p:nvSpPr>
          <p:cNvPr id="34" name="Text 32"/>
          <p:cNvSpPr/>
          <p:nvPr/>
        </p:nvSpPr>
        <p:spPr>
          <a:xfrm>
            <a:off x="9509760" y="4105656"/>
            <a:ext cx="2295144" cy="640080"/>
          </a:xfrm>
          <a:prstGeom prst="rect">
            <a:avLst/>
          </a:prstGeom>
          <a:noFill/>
          <a:ln/>
        </p:spPr>
        <p:txBody>
          <a:bodyPr wrap="square" rtlCol="0" anchor="ctr"/>
          <a:lstStyle/>
          <a:p>
            <a:pPr indent="0" marL="0">
              <a:buNone/>
            </a:pPr>
            <a:r>
              <a:rPr lang="en-US" sz="3000" b="1" dirty="0">
                <a:solidFill>
                  <a:srgbClr val="3DDC97"/>
                </a:solidFill>
                <a:latin typeface="Consolas" pitchFamily="34" charset="0"/>
                <a:ea typeface="Consolas" pitchFamily="34" charset="-122"/>
                <a:cs typeface="Consolas" pitchFamily="34" charset="-120"/>
              </a:rPr>
              <a:t>18-19M</a:t>
            </a:r>
            <a:endParaRPr lang="en-US" sz="3000" dirty="0"/>
          </a:p>
        </p:txBody>
      </p:sp>
      <p:sp>
        <p:nvSpPr>
          <p:cNvPr id="35" name="Text 33"/>
          <p:cNvSpPr/>
          <p:nvPr/>
        </p:nvSpPr>
        <p:spPr>
          <a:xfrm>
            <a:off x="9509760" y="4782312"/>
            <a:ext cx="2295144" cy="457200"/>
          </a:xfrm>
          <a:prstGeom prst="rect">
            <a:avLst/>
          </a:prstGeom>
          <a:noFill/>
          <a:ln/>
        </p:spPr>
        <p:txBody>
          <a:bodyPr wrap="square" rtlCol="0" anchor="t"/>
          <a:lstStyle/>
          <a:p>
            <a:pPr indent="0" marL="0">
              <a:buNone/>
            </a:pPr>
            <a:r>
              <a:rPr lang="en-US" sz="1050" dirty="0">
                <a:solidFill>
                  <a:srgbClr val="9DB2A8"/>
                </a:solidFill>
                <a:latin typeface="Arial" pitchFamily="34" charset="0"/>
                <a:ea typeface="Arial" pitchFamily="34" charset="-122"/>
                <a:cs typeface="Arial" pitchFamily="34" charset="-120"/>
              </a:rPr>
              <a:t>Filipinos offline daily</a:t>
            </a:r>
            <a:endParaRPr lang="en-US" sz="1050" dirty="0"/>
          </a:p>
        </p:txBody>
      </p:sp>
      <p:sp>
        <p:nvSpPr>
          <p:cNvPr id="36" name="Text 34"/>
          <p:cNvSpPr/>
          <p:nvPr/>
        </p:nvSpPr>
        <p:spPr>
          <a:xfrm>
            <a:off x="548640" y="6080760"/>
            <a:ext cx="11430000" cy="457200"/>
          </a:xfrm>
          <a:prstGeom prst="rect">
            <a:avLst/>
          </a:prstGeom>
          <a:noFill/>
          <a:ln/>
        </p:spPr>
        <p:txBody>
          <a:bodyPr wrap="square" rtlCol="0" anchor="ctr"/>
          <a:lstStyle/>
          <a:p>
            <a:pPr indent="0" marL="0">
              <a:buNone/>
            </a:pPr>
            <a:r>
              <a:rPr lang="en-US" sz="1300" b="1" dirty="0">
                <a:solidFill>
                  <a:srgbClr val="3DDC97"/>
                </a:solidFill>
                <a:latin typeface="Arial" pitchFamily="34" charset="0"/>
                <a:ea typeface="Arial" pitchFamily="34" charset="-122"/>
                <a:cs typeface="Arial" pitchFamily="34" charset="-120"/>
              </a:rPr>
              <a:t>Wallets move money but offer no protection. Platforms protect but own your trust and take a cut. Nobody lets you do both.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02 / 05</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02 · INTRODUCTION / SOLUTION</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PACTA: Trust, Written in Code</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11091672" cy="868680"/>
          </a:xfrm>
          <a:prstGeom prst="roundRect">
            <a:avLst>
              <a:gd name="adj" fmla="val 9474"/>
            </a:avLst>
          </a:prstGeom>
          <a:solidFill>
            <a:srgbClr val="11211A"/>
          </a:solidFill>
          <a:ln w="12700">
            <a:solidFill>
              <a:srgbClr val="2FBF87"/>
            </a:solidFill>
            <a:prstDash val="solid"/>
          </a:ln>
        </p:spPr>
      </p:sp>
      <p:sp>
        <p:nvSpPr>
          <p:cNvPr id="15" name="Shape 13"/>
          <p:cNvSpPr/>
          <p:nvPr/>
        </p:nvSpPr>
        <p:spPr>
          <a:xfrm>
            <a:off x="548640" y="2121408"/>
            <a:ext cx="64008" cy="649224"/>
          </a:xfrm>
          <a:prstGeom prst="rect">
            <a:avLst/>
          </a:prstGeom>
          <a:solidFill>
            <a:srgbClr val="2FBF87"/>
          </a:solidFill>
          <a:ln/>
        </p:spPr>
      </p:sp>
      <p:sp>
        <p:nvSpPr>
          <p:cNvPr id="16" name="Text 14"/>
          <p:cNvSpPr/>
          <p:nvPr/>
        </p:nvSpPr>
        <p:spPr>
          <a:xfrm>
            <a:off x="768096" y="2103120"/>
            <a:ext cx="10607040" cy="713232"/>
          </a:xfrm>
          <a:prstGeom prst="rect">
            <a:avLst/>
          </a:prstGeom>
          <a:noFill/>
          <a:ln/>
        </p:spPr>
        <p:txBody>
          <a:bodyPr wrap="square" rtlCol="0" anchor="ctr"/>
          <a:lstStyle/>
          <a:p>
            <a:pPr indent="0" marL="0">
              <a:lnSpc>
                <a:spcPct val="105000"/>
              </a:lnSpc>
              <a:buNone/>
            </a:pPr>
            <a:r>
              <a:rPr lang="en-US" sz="1250" b="1" dirty="0">
                <a:solidFill>
                  <a:srgbClr val="FFFFFF"/>
                </a:solidFill>
                <a:latin typeface="Arial" pitchFamily="34" charset="0"/>
                <a:ea typeface="Arial" pitchFamily="34" charset="-122"/>
                <a:cs typeface="Arial" pitchFamily="34" charset="-120"/>
              </a:rPr>
              <a:t>PACTA is a non-custodial money app on Stellar. </a:t>
            </a:r>
            <a:pPr indent="0" marL="0">
              <a:lnSpc>
                <a:spcPct val="105000"/>
              </a:lnSpc>
              <a:buNone/>
            </a:pPr>
            <a:r>
              <a:rPr lang="en-US" sz="1250" dirty="0">
                <a:solidFill>
                  <a:srgbClr val="9DB2A8"/>
                </a:solidFill>
                <a:latin typeface="Arial" pitchFamily="34" charset="0"/>
                <a:ea typeface="Arial" pitchFamily="34" charset="-122"/>
                <a:cs typeface="Arial" pitchFamily="34" charset="-120"/>
              </a:rPr>
              <a:t>Hold, send, receive, and convert like any wallet, and when a payment matters, choose Send Protected instead of Send Now. A Protected send creates a Pact: a Soroban escrow that keeps both sides honest.</a:t>
            </a:r>
            <a:endParaRPr lang="en-US" sz="1250" dirty="0"/>
          </a:p>
        </p:txBody>
      </p:sp>
      <p:sp>
        <p:nvSpPr>
          <p:cNvPr id="17" name="Shape 15"/>
          <p:cNvSpPr/>
          <p:nvPr/>
        </p:nvSpPr>
        <p:spPr>
          <a:xfrm>
            <a:off x="548640" y="3063240"/>
            <a:ext cx="11091672" cy="603504"/>
          </a:xfrm>
          <a:prstGeom prst="roundRect">
            <a:avLst>
              <a:gd name="adj" fmla="val 13636"/>
            </a:avLst>
          </a:prstGeom>
          <a:solidFill>
            <a:srgbClr val="15291F"/>
          </a:solidFill>
          <a:ln w="12700">
            <a:solidFill>
              <a:srgbClr val="2FBF87"/>
            </a:solidFill>
            <a:prstDash val="solid"/>
          </a:ln>
        </p:spPr>
      </p:sp>
      <p:sp>
        <p:nvSpPr>
          <p:cNvPr id="18" name="Text 16"/>
          <p:cNvSpPr/>
          <p:nvPr/>
        </p:nvSpPr>
        <p:spPr>
          <a:xfrm>
            <a:off x="731520" y="3063240"/>
            <a:ext cx="10698480" cy="603504"/>
          </a:xfrm>
          <a:prstGeom prst="rect">
            <a:avLst/>
          </a:prstGeom>
          <a:noFill/>
          <a:ln/>
        </p:spPr>
        <p:txBody>
          <a:bodyPr wrap="square" rtlCol="0" anchor="ctr"/>
          <a:lstStyle/>
          <a:p>
            <a:pPr algn="ctr" indent="0" marL="0">
              <a:buNone/>
            </a:pPr>
            <a:r>
              <a:rPr lang="en-US" sz="1150" dirty="0">
                <a:solidFill>
                  <a:srgbClr val="3DDC97"/>
                </a:solidFill>
                <a:latin typeface="Consolas" pitchFamily="34" charset="0"/>
                <a:ea typeface="Consolas" pitchFamily="34" charset="-122"/>
                <a:cs typeface="Consolas" pitchFamily="34" charset="-120"/>
              </a:rPr>
              <a:t>create  →  recipient posts bond  →  deposit  →  staged milestone release  →  complete (bond back)  /  refund + bond to sender</a:t>
            </a:r>
            <a:endParaRPr lang="en-US" sz="1150" dirty="0"/>
          </a:p>
        </p:txBody>
      </p:sp>
      <p:sp>
        <p:nvSpPr>
          <p:cNvPr id="19" name="Shape 17"/>
          <p:cNvSpPr/>
          <p:nvPr/>
        </p:nvSpPr>
        <p:spPr>
          <a:xfrm>
            <a:off x="548640" y="3840480"/>
            <a:ext cx="2679192" cy="1600200"/>
          </a:xfrm>
          <a:prstGeom prst="roundRect">
            <a:avLst>
              <a:gd name="adj" fmla="val 5143"/>
            </a:avLst>
          </a:prstGeom>
          <a:solidFill>
            <a:srgbClr val="11211A"/>
          </a:solidFill>
          <a:ln w="12700">
            <a:solidFill>
              <a:srgbClr val="24422F"/>
            </a:solidFill>
            <a:prstDash val="solid"/>
          </a:ln>
        </p:spPr>
      </p:sp>
      <p:sp>
        <p:nvSpPr>
          <p:cNvPr id="20" name="Shape 18"/>
          <p:cNvSpPr/>
          <p:nvPr/>
        </p:nvSpPr>
        <p:spPr>
          <a:xfrm>
            <a:off x="749808" y="4023360"/>
            <a:ext cx="420624" cy="420624"/>
          </a:xfrm>
          <a:prstGeom prst="roundRect">
            <a:avLst>
              <a:gd name="adj" fmla="val 21739"/>
            </a:avLst>
          </a:prstGeom>
          <a:solidFill>
            <a:srgbClr val="15291F"/>
          </a:solidFill>
          <a:ln w="12700">
            <a:solidFill>
              <a:srgbClr val="2FBF87"/>
            </a:solidFill>
            <a:prstDash val="solid"/>
          </a:ln>
        </p:spPr>
      </p:sp>
      <p:sp>
        <p:nvSpPr>
          <p:cNvPr id="21" name="Text 19"/>
          <p:cNvSpPr/>
          <p:nvPr/>
        </p:nvSpPr>
        <p:spPr>
          <a:xfrm>
            <a:off x="749808" y="4023360"/>
            <a:ext cx="420624" cy="420624"/>
          </a:xfrm>
          <a:prstGeom prst="rect">
            <a:avLst/>
          </a:prstGeom>
          <a:noFill/>
          <a:ln/>
        </p:spPr>
        <p:txBody>
          <a:bodyPr wrap="square" rtlCol="0" anchor="ctr"/>
          <a:lstStyle/>
          <a:p>
            <a:pPr algn="ctr" indent="0" marL="0">
              <a:buNone/>
            </a:pPr>
            <a:r>
              <a:rPr lang="en-US" sz="1500" b="1" dirty="0">
                <a:solidFill>
                  <a:srgbClr val="3DDC97"/>
                </a:solidFill>
                <a:latin typeface="Consolas" pitchFamily="34" charset="0"/>
                <a:ea typeface="Consolas" pitchFamily="34" charset="-122"/>
                <a:cs typeface="Consolas" pitchFamily="34" charset="-120"/>
              </a:rPr>
              <a:t>1</a:t>
            </a:r>
            <a:endParaRPr lang="en-US" sz="1500" dirty="0"/>
          </a:p>
        </p:txBody>
      </p:sp>
      <p:sp>
        <p:nvSpPr>
          <p:cNvPr id="22" name="Text 20"/>
          <p:cNvSpPr/>
          <p:nvPr/>
        </p:nvSpPr>
        <p:spPr>
          <a:xfrm>
            <a:off x="1298448" y="4041648"/>
            <a:ext cx="1764792" cy="402336"/>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Staged release</a:t>
            </a:r>
            <a:endParaRPr lang="en-US" sz="1350" dirty="0"/>
          </a:p>
        </p:txBody>
      </p:sp>
      <p:sp>
        <p:nvSpPr>
          <p:cNvPr id="23" name="Text 21"/>
          <p:cNvSpPr/>
          <p:nvPr/>
        </p:nvSpPr>
        <p:spPr>
          <a:xfrm>
            <a:off x="768096" y="4553712"/>
            <a:ext cx="2240280" cy="777240"/>
          </a:xfrm>
          <a:prstGeom prst="rect">
            <a:avLst/>
          </a:prstGeom>
          <a:noFill/>
          <a:ln/>
        </p:spPr>
        <p:txBody>
          <a:bodyPr wrap="square" rtlCol="0" anchor="t"/>
          <a:lstStyle/>
          <a:p>
            <a:pPr indent="0" marL="0">
              <a:lnSpc>
                <a:spcPct val="103000"/>
              </a:lnSpc>
              <a:buNone/>
            </a:pPr>
            <a:r>
              <a:rPr lang="en-US" sz="1050" dirty="0">
                <a:solidFill>
                  <a:srgbClr val="9DB2A8"/>
                </a:solidFill>
                <a:latin typeface="Arial" pitchFamily="34" charset="0"/>
                <a:ea typeface="Arial" pitchFamily="34" charset="-122"/>
                <a:cs typeface="Arial" pitchFamily="34" charset="-120"/>
              </a:rPr>
              <a:t>Funds release milestone by milestone, so only a slice is ever exposed.</a:t>
            </a:r>
            <a:endParaRPr lang="en-US" sz="1050" dirty="0"/>
          </a:p>
        </p:txBody>
      </p:sp>
      <p:sp>
        <p:nvSpPr>
          <p:cNvPr id="24" name="Shape 22"/>
          <p:cNvSpPr/>
          <p:nvPr/>
        </p:nvSpPr>
        <p:spPr>
          <a:xfrm>
            <a:off x="3346704" y="3840480"/>
            <a:ext cx="2679192" cy="1600200"/>
          </a:xfrm>
          <a:prstGeom prst="roundRect">
            <a:avLst>
              <a:gd name="adj" fmla="val 5143"/>
            </a:avLst>
          </a:prstGeom>
          <a:solidFill>
            <a:srgbClr val="11211A"/>
          </a:solidFill>
          <a:ln w="12700">
            <a:solidFill>
              <a:srgbClr val="24422F"/>
            </a:solidFill>
            <a:prstDash val="solid"/>
          </a:ln>
        </p:spPr>
      </p:sp>
      <p:sp>
        <p:nvSpPr>
          <p:cNvPr id="25" name="Shape 23"/>
          <p:cNvSpPr/>
          <p:nvPr/>
        </p:nvSpPr>
        <p:spPr>
          <a:xfrm>
            <a:off x="3547872" y="4023360"/>
            <a:ext cx="420624" cy="420624"/>
          </a:xfrm>
          <a:prstGeom prst="roundRect">
            <a:avLst>
              <a:gd name="adj" fmla="val 21739"/>
            </a:avLst>
          </a:prstGeom>
          <a:solidFill>
            <a:srgbClr val="15291F"/>
          </a:solidFill>
          <a:ln w="12700">
            <a:solidFill>
              <a:srgbClr val="2FBF87"/>
            </a:solidFill>
            <a:prstDash val="solid"/>
          </a:ln>
        </p:spPr>
      </p:sp>
      <p:sp>
        <p:nvSpPr>
          <p:cNvPr id="26" name="Text 24"/>
          <p:cNvSpPr/>
          <p:nvPr/>
        </p:nvSpPr>
        <p:spPr>
          <a:xfrm>
            <a:off x="3547872" y="4023360"/>
            <a:ext cx="420624" cy="420624"/>
          </a:xfrm>
          <a:prstGeom prst="rect">
            <a:avLst/>
          </a:prstGeom>
          <a:noFill/>
          <a:ln/>
        </p:spPr>
        <p:txBody>
          <a:bodyPr wrap="square" rtlCol="0" anchor="ctr"/>
          <a:lstStyle/>
          <a:p>
            <a:pPr algn="ctr" indent="0" marL="0">
              <a:buNone/>
            </a:pPr>
            <a:r>
              <a:rPr lang="en-US" sz="1500" b="1" dirty="0">
                <a:solidFill>
                  <a:srgbClr val="3DDC97"/>
                </a:solidFill>
                <a:latin typeface="Consolas" pitchFamily="34" charset="0"/>
                <a:ea typeface="Consolas" pitchFamily="34" charset="-122"/>
                <a:cs typeface="Consolas" pitchFamily="34" charset="-120"/>
              </a:rPr>
              <a:t>2</a:t>
            </a:r>
            <a:endParaRPr lang="en-US" sz="1500" dirty="0"/>
          </a:p>
        </p:txBody>
      </p:sp>
      <p:sp>
        <p:nvSpPr>
          <p:cNvPr id="27" name="Text 25"/>
          <p:cNvSpPr/>
          <p:nvPr/>
        </p:nvSpPr>
        <p:spPr>
          <a:xfrm>
            <a:off x="4096512" y="4041648"/>
            <a:ext cx="1764792" cy="402336"/>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Recipient bond</a:t>
            </a:r>
            <a:endParaRPr lang="en-US" sz="1350" dirty="0"/>
          </a:p>
        </p:txBody>
      </p:sp>
      <p:sp>
        <p:nvSpPr>
          <p:cNvPr id="28" name="Text 26"/>
          <p:cNvSpPr/>
          <p:nvPr/>
        </p:nvSpPr>
        <p:spPr>
          <a:xfrm>
            <a:off x="3566160" y="4553712"/>
            <a:ext cx="2240280" cy="777240"/>
          </a:xfrm>
          <a:prstGeom prst="rect">
            <a:avLst/>
          </a:prstGeom>
          <a:noFill/>
          <a:ln/>
        </p:spPr>
        <p:txBody>
          <a:bodyPr wrap="square" rtlCol="0" anchor="t"/>
          <a:lstStyle/>
          <a:p>
            <a:pPr indent="0" marL="0">
              <a:lnSpc>
                <a:spcPct val="103000"/>
              </a:lnSpc>
              <a:buNone/>
            </a:pPr>
            <a:r>
              <a:rPr lang="en-US" sz="1050" dirty="0">
                <a:solidFill>
                  <a:srgbClr val="9DB2A8"/>
                </a:solidFill>
                <a:latin typeface="Arial" pitchFamily="34" charset="0"/>
                <a:ea typeface="Arial" pitchFamily="34" charset="-122"/>
                <a:cs typeface="Arial" pitchFamily="34" charset="-120"/>
              </a:rPr>
              <a:t>A security bond, real skin in the game, earned back only on delivery.</a:t>
            </a:r>
            <a:endParaRPr lang="en-US" sz="1050" dirty="0"/>
          </a:p>
        </p:txBody>
      </p:sp>
      <p:sp>
        <p:nvSpPr>
          <p:cNvPr id="29" name="Shape 27"/>
          <p:cNvSpPr/>
          <p:nvPr/>
        </p:nvSpPr>
        <p:spPr>
          <a:xfrm>
            <a:off x="6144768" y="3840480"/>
            <a:ext cx="2679192" cy="1600200"/>
          </a:xfrm>
          <a:prstGeom prst="roundRect">
            <a:avLst>
              <a:gd name="adj" fmla="val 5143"/>
            </a:avLst>
          </a:prstGeom>
          <a:solidFill>
            <a:srgbClr val="11211A"/>
          </a:solidFill>
          <a:ln w="12700">
            <a:solidFill>
              <a:srgbClr val="24422F"/>
            </a:solidFill>
            <a:prstDash val="solid"/>
          </a:ln>
        </p:spPr>
      </p:sp>
      <p:sp>
        <p:nvSpPr>
          <p:cNvPr id="30" name="Shape 28"/>
          <p:cNvSpPr/>
          <p:nvPr/>
        </p:nvSpPr>
        <p:spPr>
          <a:xfrm>
            <a:off x="6345936" y="4023360"/>
            <a:ext cx="420624" cy="420624"/>
          </a:xfrm>
          <a:prstGeom prst="roundRect">
            <a:avLst>
              <a:gd name="adj" fmla="val 21739"/>
            </a:avLst>
          </a:prstGeom>
          <a:solidFill>
            <a:srgbClr val="15291F"/>
          </a:solidFill>
          <a:ln w="12700">
            <a:solidFill>
              <a:srgbClr val="2FBF87"/>
            </a:solidFill>
            <a:prstDash val="solid"/>
          </a:ln>
        </p:spPr>
      </p:sp>
      <p:sp>
        <p:nvSpPr>
          <p:cNvPr id="31" name="Text 29"/>
          <p:cNvSpPr/>
          <p:nvPr/>
        </p:nvSpPr>
        <p:spPr>
          <a:xfrm>
            <a:off x="6345936" y="4023360"/>
            <a:ext cx="420624" cy="420624"/>
          </a:xfrm>
          <a:prstGeom prst="rect">
            <a:avLst/>
          </a:prstGeom>
          <a:noFill/>
          <a:ln/>
        </p:spPr>
        <p:txBody>
          <a:bodyPr wrap="square" rtlCol="0" anchor="ctr"/>
          <a:lstStyle/>
          <a:p>
            <a:pPr algn="ctr" indent="0" marL="0">
              <a:buNone/>
            </a:pPr>
            <a:r>
              <a:rPr lang="en-US" sz="1500" b="1" dirty="0">
                <a:solidFill>
                  <a:srgbClr val="3DDC97"/>
                </a:solidFill>
                <a:latin typeface="Consolas" pitchFamily="34" charset="0"/>
                <a:ea typeface="Consolas" pitchFamily="34" charset="-122"/>
                <a:cs typeface="Consolas" pitchFamily="34" charset="-120"/>
              </a:rPr>
              <a:t>3</a:t>
            </a:r>
            <a:endParaRPr lang="en-US" sz="1500" dirty="0"/>
          </a:p>
        </p:txBody>
      </p:sp>
      <p:sp>
        <p:nvSpPr>
          <p:cNvPr id="32" name="Text 30"/>
          <p:cNvSpPr/>
          <p:nvPr/>
        </p:nvSpPr>
        <p:spPr>
          <a:xfrm>
            <a:off x="6894576" y="4041648"/>
            <a:ext cx="1764792" cy="402336"/>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Deadline refund</a:t>
            </a:r>
            <a:endParaRPr lang="en-US" sz="1350" dirty="0"/>
          </a:p>
        </p:txBody>
      </p:sp>
      <p:sp>
        <p:nvSpPr>
          <p:cNvPr id="33" name="Text 31"/>
          <p:cNvSpPr/>
          <p:nvPr/>
        </p:nvSpPr>
        <p:spPr>
          <a:xfrm>
            <a:off x="6364224" y="4553712"/>
            <a:ext cx="2240280" cy="777240"/>
          </a:xfrm>
          <a:prstGeom prst="rect">
            <a:avLst/>
          </a:prstGeom>
          <a:noFill/>
          <a:ln/>
        </p:spPr>
        <p:txBody>
          <a:bodyPr wrap="square" rtlCol="0" anchor="t"/>
          <a:lstStyle/>
          <a:p>
            <a:pPr indent="0" marL="0">
              <a:lnSpc>
                <a:spcPct val="103000"/>
              </a:lnSpc>
              <a:buNone/>
            </a:pPr>
            <a:r>
              <a:rPr lang="en-US" sz="1050" dirty="0">
                <a:solidFill>
                  <a:srgbClr val="9DB2A8"/>
                </a:solidFill>
                <a:latin typeface="Arial" pitchFamily="34" charset="0"/>
                <a:ea typeface="Arial" pitchFamily="34" charset="-122"/>
                <a:cs typeface="Arial" pitchFamily="34" charset="-120"/>
              </a:rPr>
              <a:t>No delivery in time? The sender reclaims funds PLUS the bond.</a:t>
            </a:r>
            <a:endParaRPr lang="en-US" sz="1050" dirty="0"/>
          </a:p>
        </p:txBody>
      </p:sp>
      <p:sp>
        <p:nvSpPr>
          <p:cNvPr id="34" name="Shape 32"/>
          <p:cNvSpPr/>
          <p:nvPr/>
        </p:nvSpPr>
        <p:spPr>
          <a:xfrm>
            <a:off x="8942832" y="3840480"/>
            <a:ext cx="2679192" cy="1600200"/>
          </a:xfrm>
          <a:prstGeom prst="roundRect">
            <a:avLst>
              <a:gd name="adj" fmla="val 5143"/>
            </a:avLst>
          </a:prstGeom>
          <a:solidFill>
            <a:srgbClr val="11211A"/>
          </a:solidFill>
          <a:ln w="12700">
            <a:solidFill>
              <a:srgbClr val="24422F"/>
            </a:solidFill>
            <a:prstDash val="solid"/>
          </a:ln>
        </p:spPr>
      </p:sp>
      <p:sp>
        <p:nvSpPr>
          <p:cNvPr id="35" name="Shape 33"/>
          <p:cNvSpPr/>
          <p:nvPr/>
        </p:nvSpPr>
        <p:spPr>
          <a:xfrm>
            <a:off x="9144000" y="4023360"/>
            <a:ext cx="420624" cy="420624"/>
          </a:xfrm>
          <a:prstGeom prst="roundRect">
            <a:avLst>
              <a:gd name="adj" fmla="val 21739"/>
            </a:avLst>
          </a:prstGeom>
          <a:solidFill>
            <a:srgbClr val="15291F"/>
          </a:solidFill>
          <a:ln w="12700">
            <a:solidFill>
              <a:srgbClr val="2FBF87"/>
            </a:solidFill>
            <a:prstDash val="solid"/>
          </a:ln>
        </p:spPr>
      </p:sp>
      <p:sp>
        <p:nvSpPr>
          <p:cNvPr id="36" name="Text 34"/>
          <p:cNvSpPr/>
          <p:nvPr/>
        </p:nvSpPr>
        <p:spPr>
          <a:xfrm>
            <a:off x="9144000" y="4023360"/>
            <a:ext cx="420624" cy="420624"/>
          </a:xfrm>
          <a:prstGeom prst="rect">
            <a:avLst/>
          </a:prstGeom>
          <a:noFill/>
          <a:ln/>
        </p:spPr>
        <p:txBody>
          <a:bodyPr wrap="square" rtlCol="0" anchor="ctr"/>
          <a:lstStyle/>
          <a:p>
            <a:pPr algn="ctr" indent="0" marL="0">
              <a:buNone/>
            </a:pPr>
            <a:r>
              <a:rPr lang="en-US" sz="1500" b="1" dirty="0">
                <a:solidFill>
                  <a:srgbClr val="3DDC97"/>
                </a:solidFill>
                <a:latin typeface="Consolas" pitchFamily="34" charset="0"/>
                <a:ea typeface="Consolas" pitchFamily="34" charset="-122"/>
                <a:cs typeface="Consolas" pitchFamily="34" charset="-120"/>
              </a:rPr>
              <a:t>4</a:t>
            </a:r>
            <a:endParaRPr lang="en-US" sz="1500" dirty="0"/>
          </a:p>
        </p:txBody>
      </p:sp>
      <p:sp>
        <p:nvSpPr>
          <p:cNvPr id="37" name="Text 35"/>
          <p:cNvSpPr/>
          <p:nvPr/>
        </p:nvSpPr>
        <p:spPr>
          <a:xfrm>
            <a:off x="9692640" y="4041648"/>
            <a:ext cx="1764792" cy="402336"/>
          </a:xfrm>
          <a:prstGeom prst="rect">
            <a:avLst/>
          </a:prstGeom>
          <a:noFill/>
          <a:ln/>
        </p:spPr>
        <p:txBody>
          <a:bodyPr wrap="square" rtlCol="0" anchor="ctr"/>
          <a:lstStyle/>
          <a:p>
            <a:pPr indent="0" marL="0">
              <a:buNone/>
            </a:pPr>
            <a:r>
              <a:rPr lang="en-US" sz="1350" b="1" dirty="0">
                <a:solidFill>
                  <a:srgbClr val="FFFFFF"/>
                </a:solidFill>
                <a:latin typeface="Arial" pitchFamily="34" charset="0"/>
                <a:ea typeface="Arial" pitchFamily="34" charset="-122"/>
                <a:cs typeface="Arial" pitchFamily="34" charset="-120"/>
              </a:rPr>
              <a:t>Owned reputation</a:t>
            </a:r>
            <a:endParaRPr lang="en-US" sz="1350" dirty="0"/>
          </a:p>
        </p:txBody>
      </p:sp>
      <p:sp>
        <p:nvSpPr>
          <p:cNvPr id="38" name="Text 36"/>
          <p:cNvSpPr/>
          <p:nvPr/>
        </p:nvSpPr>
        <p:spPr>
          <a:xfrm>
            <a:off x="9162288" y="4553712"/>
            <a:ext cx="2240280" cy="777240"/>
          </a:xfrm>
          <a:prstGeom prst="rect">
            <a:avLst/>
          </a:prstGeom>
          <a:noFill/>
          <a:ln/>
        </p:spPr>
        <p:txBody>
          <a:bodyPr wrap="square" rtlCol="0" anchor="t"/>
          <a:lstStyle/>
          <a:p>
            <a:pPr indent="0" marL="0">
              <a:lnSpc>
                <a:spcPct val="103000"/>
              </a:lnSpc>
              <a:buNone/>
            </a:pPr>
            <a:r>
              <a:rPr lang="en-US" sz="1050" dirty="0">
                <a:solidFill>
                  <a:srgbClr val="9DB2A8"/>
                </a:solidFill>
                <a:latin typeface="Arial" pitchFamily="34" charset="0"/>
                <a:ea typeface="Arial" pitchFamily="34" charset="-122"/>
                <a:cs typeface="Arial" pitchFamily="34" charset="-120"/>
              </a:rPr>
              <a:t>Every Pact builds a portable trust record the user owns.</a:t>
            </a:r>
            <a:endParaRPr lang="en-US" sz="1050" dirty="0"/>
          </a:p>
        </p:txBody>
      </p:sp>
      <p:sp>
        <p:nvSpPr>
          <p:cNvPr id="39" name="Shape 37"/>
          <p:cNvSpPr/>
          <p:nvPr/>
        </p:nvSpPr>
        <p:spPr>
          <a:xfrm>
            <a:off x="548640" y="5623560"/>
            <a:ext cx="1562710" cy="402336"/>
          </a:xfrm>
          <a:prstGeom prst="roundRect">
            <a:avLst>
              <a:gd name="adj" fmla="val 50000"/>
            </a:avLst>
          </a:prstGeom>
          <a:solidFill>
            <a:srgbClr val="15291F"/>
          </a:solidFill>
          <a:ln w="12700">
            <a:solidFill>
              <a:srgbClr val="2FBF87"/>
            </a:solidFill>
            <a:prstDash val="solid"/>
          </a:ln>
        </p:spPr>
      </p:sp>
      <p:sp>
        <p:nvSpPr>
          <p:cNvPr id="40" name="Text 38"/>
          <p:cNvSpPr/>
          <p:nvPr/>
        </p:nvSpPr>
        <p:spPr>
          <a:xfrm>
            <a:off x="548640" y="5623560"/>
            <a:ext cx="1562710"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Non-custodial</a:t>
            </a:r>
            <a:endParaRPr lang="en-US" sz="1100" dirty="0"/>
          </a:p>
        </p:txBody>
      </p:sp>
      <p:sp>
        <p:nvSpPr>
          <p:cNvPr id="41" name="Shape 39"/>
          <p:cNvSpPr/>
          <p:nvPr/>
        </p:nvSpPr>
        <p:spPr>
          <a:xfrm>
            <a:off x="2312518" y="5623560"/>
            <a:ext cx="1732788" cy="402336"/>
          </a:xfrm>
          <a:prstGeom prst="roundRect">
            <a:avLst>
              <a:gd name="adj" fmla="val 50000"/>
            </a:avLst>
          </a:prstGeom>
          <a:solidFill>
            <a:srgbClr val="15291F"/>
          </a:solidFill>
          <a:ln w="12700">
            <a:solidFill>
              <a:srgbClr val="2FBF87"/>
            </a:solidFill>
            <a:prstDash val="solid"/>
          </a:ln>
        </p:spPr>
      </p:sp>
      <p:sp>
        <p:nvSpPr>
          <p:cNvPr id="42" name="Text 40"/>
          <p:cNvSpPr/>
          <p:nvPr/>
        </p:nvSpPr>
        <p:spPr>
          <a:xfrm>
            <a:off x="2312518" y="5623560"/>
            <a:ext cx="1732788"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Live on Mainnet</a:t>
            </a:r>
            <a:endParaRPr lang="en-US" sz="1100" dirty="0"/>
          </a:p>
        </p:txBody>
      </p:sp>
      <p:sp>
        <p:nvSpPr>
          <p:cNvPr id="43" name="Shape 41"/>
          <p:cNvSpPr/>
          <p:nvPr/>
        </p:nvSpPr>
        <p:spPr>
          <a:xfrm>
            <a:off x="4246474" y="5623560"/>
            <a:ext cx="1902866" cy="402336"/>
          </a:xfrm>
          <a:prstGeom prst="roundRect">
            <a:avLst>
              <a:gd name="adj" fmla="val 50000"/>
            </a:avLst>
          </a:prstGeom>
          <a:solidFill>
            <a:srgbClr val="15291F"/>
          </a:solidFill>
          <a:ln w="12700">
            <a:solidFill>
              <a:srgbClr val="2FBF87"/>
            </a:solidFill>
            <a:prstDash val="solid"/>
          </a:ln>
        </p:spPr>
      </p:sp>
      <p:sp>
        <p:nvSpPr>
          <p:cNvPr id="44" name="Text 42"/>
          <p:cNvSpPr/>
          <p:nvPr/>
        </p:nvSpPr>
        <p:spPr>
          <a:xfrm>
            <a:off x="4246474" y="5623560"/>
            <a:ext cx="1902866" cy="402336"/>
          </a:xfrm>
          <a:prstGeom prst="rect">
            <a:avLst/>
          </a:prstGeom>
          <a:noFill/>
          <a:ln/>
        </p:spPr>
        <p:txBody>
          <a:bodyPr wrap="square" rtlCol="0" anchor="ctr"/>
          <a:lstStyle/>
          <a:p>
            <a:pPr algn="ctr" indent="0" marL="0">
              <a:buNone/>
            </a:pPr>
            <a:r>
              <a:rPr lang="en-US" sz="1100" dirty="0">
                <a:solidFill>
                  <a:srgbClr val="3DDC97"/>
                </a:solidFill>
                <a:latin typeface="Consolas" pitchFamily="34" charset="0"/>
                <a:ea typeface="Consolas" pitchFamily="34" charset="-122"/>
                <a:cs typeface="Consolas" pitchFamily="34" charset="-120"/>
              </a:rPr>
              <a:t>Provable on-chain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03 / 05</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03 · FUNCTIONALITIES &amp; FEATURES</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Full Feature Set</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5468112" cy="3703320"/>
          </a:xfrm>
          <a:prstGeom prst="roundRect">
            <a:avLst>
              <a:gd name="adj" fmla="val 2222"/>
            </a:avLst>
          </a:prstGeom>
          <a:solidFill>
            <a:srgbClr val="11211A"/>
          </a:solidFill>
          <a:ln w="12700">
            <a:solidFill>
              <a:srgbClr val="24422F"/>
            </a:solidFill>
            <a:prstDash val="solid"/>
          </a:ln>
        </p:spPr>
      </p:sp>
      <p:sp>
        <p:nvSpPr>
          <p:cNvPr id="15" name="Shape 13"/>
          <p:cNvSpPr/>
          <p:nvPr/>
        </p:nvSpPr>
        <p:spPr>
          <a:xfrm>
            <a:off x="548640" y="2139696"/>
            <a:ext cx="64008" cy="3447288"/>
          </a:xfrm>
          <a:prstGeom prst="rect">
            <a:avLst/>
          </a:prstGeom>
          <a:solidFill>
            <a:srgbClr val="2FBF87"/>
          </a:solidFill>
          <a:ln/>
        </p:spPr>
      </p:sp>
      <p:sp>
        <p:nvSpPr>
          <p:cNvPr id="16" name="Text 14"/>
          <p:cNvSpPr/>
          <p:nvPr/>
        </p:nvSpPr>
        <p:spPr>
          <a:xfrm>
            <a:off x="786384" y="2194560"/>
            <a:ext cx="5010912" cy="274320"/>
          </a:xfrm>
          <a:prstGeom prst="rect">
            <a:avLst/>
          </a:prstGeom>
          <a:noFill/>
          <a:ln/>
        </p:spPr>
        <p:txBody>
          <a:bodyPr wrap="square" rtlCol="0" anchor="ctr"/>
          <a:lstStyle/>
          <a:p>
            <a:pPr indent="0" marL="0">
              <a:buNone/>
            </a:pPr>
            <a:r>
              <a:rPr lang="en-US" sz="1200" b="1" spc="200" kern="0" dirty="0">
                <a:solidFill>
                  <a:srgbClr val="2FBF87"/>
                </a:solidFill>
                <a:latin typeface="Consolas" pitchFamily="34" charset="0"/>
                <a:ea typeface="Consolas" pitchFamily="34" charset="-122"/>
                <a:cs typeface="Consolas" pitchFamily="34" charset="-120"/>
              </a:rPr>
              <a:t>WALLET LAYER</a:t>
            </a:r>
            <a:endParaRPr lang="en-US" sz="1200" dirty="0"/>
          </a:p>
        </p:txBody>
      </p:sp>
      <p:sp>
        <p:nvSpPr>
          <p:cNvPr id="17" name="Text 15"/>
          <p:cNvSpPr/>
          <p:nvPr/>
        </p:nvSpPr>
        <p:spPr>
          <a:xfrm>
            <a:off x="786384" y="2468880"/>
            <a:ext cx="5010912"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Your everyday money hub</a:t>
            </a:r>
            <a:endParaRPr lang="en-US" sz="1400" dirty="0"/>
          </a:p>
        </p:txBody>
      </p:sp>
      <p:sp>
        <p:nvSpPr>
          <p:cNvPr id="18" name="Text 16"/>
          <p:cNvSpPr/>
          <p:nvPr/>
        </p:nvSpPr>
        <p:spPr>
          <a:xfrm>
            <a:off x="786384" y="2852928"/>
            <a:ext cx="4965192" cy="2743200"/>
          </a:xfrm>
          <a:prstGeom prst="rect">
            <a:avLst/>
          </a:prstGeom>
          <a:noFill/>
          <a:ln/>
        </p:spPr>
        <p:txBody>
          <a:bodyPr wrap="square" rtlCol="0" anchor="t"/>
          <a:lstStyle/>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p:txBody>
      </p:sp>
      <p:sp>
        <p:nvSpPr>
          <p:cNvPr id="19" name="Shape 17"/>
          <p:cNvSpPr/>
          <p:nvPr/>
        </p:nvSpPr>
        <p:spPr>
          <a:xfrm>
            <a:off x="6172200" y="2011680"/>
            <a:ext cx="5468112" cy="3703320"/>
          </a:xfrm>
          <a:prstGeom prst="roundRect">
            <a:avLst>
              <a:gd name="adj" fmla="val 2222"/>
            </a:avLst>
          </a:prstGeom>
          <a:solidFill>
            <a:srgbClr val="11211A"/>
          </a:solidFill>
          <a:ln w="12700">
            <a:solidFill>
              <a:srgbClr val="24422F"/>
            </a:solidFill>
            <a:prstDash val="solid"/>
          </a:ln>
        </p:spPr>
      </p:sp>
      <p:sp>
        <p:nvSpPr>
          <p:cNvPr id="20" name="Shape 18"/>
          <p:cNvSpPr/>
          <p:nvPr/>
        </p:nvSpPr>
        <p:spPr>
          <a:xfrm>
            <a:off x="6172200" y="2139696"/>
            <a:ext cx="64008" cy="3447288"/>
          </a:xfrm>
          <a:prstGeom prst="rect">
            <a:avLst/>
          </a:prstGeom>
          <a:solidFill>
            <a:srgbClr val="22C3B8"/>
          </a:solidFill>
          <a:ln/>
        </p:spPr>
      </p:sp>
      <p:sp>
        <p:nvSpPr>
          <p:cNvPr id="21" name="Text 19"/>
          <p:cNvSpPr/>
          <p:nvPr/>
        </p:nvSpPr>
        <p:spPr>
          <a:xfrm>
            <a:off x="6409944" y="2194560"/>
            <a:ext cx="5010912" cy="274320"/>
          </a:xfrm>
          <a:prstGeom prst="rect">
            <a:avLst/>
          </a:prstGeom>
          <a:noFill/>
          <a:ln/>
        </p:spPr>
        <p:txBody>
          <a:bodyPr wrap="square" rtlCol="0" anchor="ctr"/>
          <a:lstStyle/>
          <a:p>
            <a:pPr indent="0" marL="0">
              <a:buNone/>
            </a:pPr>
            <a:r>
              <a:rPr lang="en-US" sz="1200" b="1" spc="200" kern="0" dirty="0">
                <a:solidFill>
                  <a:srgbClr val="22C3B8"/>
                </a:solidFill>
                <a:latin typeface="Consolas" pitchFamily="34" charset="0"/>
                <a:ea typeface="Consolas" pitchFamily="34" charset="-122"/>
                <a:cs typeface="Consolas" pitchFamily="34" charset="-120"/>
              </a:rPr>
              <a:t>PROTECTION LAYER · A PACT</a:t>
            </a:r>
            <a:endParaRPr lang="en-US" sz="1200" dirty="0"/>
          </a:p>
        </p:txBody>
      </p:sp>
      <p:sp>
        <p:nvSpPr>
          <p:cNvPr id="22" name="Text 20"/>
          <p:cNvSpPr/>
          <p:nvPr/>
        </p:nvSpPr>
        <p:spPr>
          <a:xfrm>
            <a:off x="6409944" y="2468880"/>
            <a:ext cx="5010912"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Trust made enforceable</a:t>
            </a:r>
            <a:endParaRPr lang="en-US" sz="1400" dirty="0"/>
          </a:p>
        </p:txBody>
      </p:sp>
      <p:sp>
        <p:nvSpPr>
          <p:cNvPr id="23" name="Text 21"/>
          <p:cNvSpPr/>
          <p:nvPr/>
        </p:nvSpPr>
        <p:spPr>
          <a:xfrm>
            <a:off x="6409944" y="2852928"/>
            <a:ext cx="4965192" cy="2743200"/>
          </a:xfrm>
          <a:prstGeom prst="rect">
            <a:avLst/>
          </a:prstGeom>
          <a:noFill/>
          <a:ln/>
        </p:spPr>
        <p:txBody>
          <a:bodyPr wrap="square" rtlCol="0" anchor="t"/>
          <a:lstStyle/>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a:p>
            <a:pPr indent="0" marL="0">
              <a:lnSpc>
                <a:spcPct val="102000"/>
              </a:lnSpc>
              <a:spcAft>
                <a:spcPts val="1100"/>
              </a:spcAft>
              <a:buNone/>
            </a:pPr>
            <a:r>
              <a:rPr lang="en-US" sz="1150" dirty="0">
                <a:solidFill>
                  <a:srgbClr val="000000"/>
                </a:solidFill>
                <a:latin typeface="Arial" pitchFamily="34" charset="0"/>
                <a:ea typeface="Arial" pitchFamily="34" charset="-122"/>
                <a:cs typeface="Arial" pitchFamily="34" charset="-120"/>
              </a:rPr>
              <a:t>[object Object],[object Object],[object Object]</a:t>
            </a:r>
            <a:endParaRPr lang="en-US" sz="1150" dirty="0"/>
          </a:p>
        </p:txBody>
      </p:sp>
      <p:sp>
        <p:nvSpPr>
          <p:cNvPr id="24" name="Shape 22"/>
          <p:cNvSpPr/>
          <p:nvPr/>
        </p:nvSpPr>
        <p:spPr>
          <a:xfrm>
            <a:off x="548640" y="5852160"/>
            <a:ext cx="11091672" cy="548640"/>
          </a:xfrm>
          <a:prstGeom prst="roundRect">
            <a:avLst>
              <a:gd name="adj" fmla="val 15000"/>
            </a:avLst>
          </a:prstGeom>
          <a:solidFill>
            <a:srgbClr val="15291F"/>
          </a:solidFill>
          <a:ln w="12700">
            <a:solidFill>
              <a:srgbClr val="2FBF87"/>
            </a:solidFill>
            <a:prstDash val="solid"/>
          </a:ln>
        </p:spPr>
      </p:sp>
      <p:sp>
        <p:nvSpPr>
          <p:cNvPr id="25" name="Text 23"/>
          <p:cNvSpPr/>
          <p:nvPr/>
        </p:nvSpPr>
        <p:spPr>
          <a:xfrm>
            <a:off x="731520" y="5852160"/>
            <a:ext cx="10698480" cy="548640"/>
          </a:xfrm>
          <a:prstGeom prst="rect">
            <a:avLst/>
          </a:prstGeom>
          <a:noFill/>
          <a:ln/>
        </p:spPr>
        <p:txBody>
          <a:bodyPr wrap="square" rtlCol="0" anchor="ctr"/>
          <a:lstStyle/>
          <a:p>
            <a:pPr algn="ctr" indent="0" marL="0">
              <a:buNone/>
            </a:pPr>
            <a:r>
              <a:rPr lang="en-US" sz="1200" dirty="0">
                <a:solidFill>
                  <a:srgbClr val="3DDC97"/>
                </a:solidFill>
                <a:latin typeface="Consolas" pitchFamily="34" charset="0"/>
                <a:ea typeface="Consolas" pitchFamily="34" charset="-122"/>
                <a:cs typeface="Consolas" pitchFamily="34" charset="-120"/>
              </a:rPr>
              <a:t>What sets it apart:   Live on mainnet   ·   Non-custodial   ·   Security-hardened contract   ·   Reputation you 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04 / 05</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04 · TECH STACK &amp; SYSTEM ARCHITECTURE</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How It Is Built</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11091672" cy="1005840"/>
          </a:xfrm>
          <a:prstGeom prst="roundRect">
            <a:avLst>
              <a:gd name="adj" fmla="val 8182"/>
            </a:avLst>
          </a:prstGeom>
          <a:solidFill>
            <a:srgbClr val="11211A"/>
          </a:solidFill>
          <a:ln w="12700">
            <a:solidFill>
              <a:srgbClr val="24422F"/>
            </a:solidFill>
            <a:prstDash val="solid"/>
          </a:ln>
        </p:spPr>
      </p:sp>
      <p:sp>
        <p:nvSpPr>
          <p:cNvPr id="15" name="Shape 13"/>
          <p:cNvSpPr/>
          <p:nvPr/>
        </p:nvSpPr>
        <p:spPr>
          <a:xfrm>
            <a:off x="548640" y="2121408"/>
            <a:ext cx="64008" cy="786384"/>
          </a:xfrm>
          <a:prstGeom prst="rect">
            <a:avLst/>
          </a:prstGeom>
          <a:solidFill>
            <a:srgbClr val="2FBF87"/>
          </a:solidFill>
          <a:ln/>
        </p:spPr>
      </p:sp>
      <p:sp>
        <p:nvSpPr>
          <p:cNvPr id="16" name="Text 14"/>
          <p:cNvSpPr/>
          <p:nvPr/>
        </p:nvSpPr>
        <p:spPr>
          <a:xfrm>
            <a:off x="768096" y="2121408"/>
            <a:ext cx="2743200" cy="804672"/>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Client / PWA
</a:t>
            </a:r>
            <a:pPr indent="0" marL="0">
              <a:lnSpc>
                <a:spcPct val="105000"/>
              </a:lnSpc>
              <a:buNone/>
            </a:pPr>
            <a:r>
              <a:rPr lang="en-US" sz="950" dirty="0">
                <a:solidFill>
                  <a:srgbClr val="6E857A"/>
                </a:solidFill>
                <a:latin typeface="Arial" pitchFamily="34" charset="0"/>
                <a:ea typeface="Arial" pitchFamily="34" charset="-122"/>
                <a:cs typeface="Arial" pitchFamily="34" charset="-120"/>
              </a:rPr>
              <a:t>mobile-first SPA</a:t>
            </a:r>
            <a:endParaRPr lang="en-US" sz="1300" dirty="0"/>
          </a:p>
        </p:txBody>
      </p:sp>
      <p:sp>
        <p:nvSpPr>
          <p:cNvPr id="17" name="Shape 15"/>
          <p:cNvSpPr/>
          <p:nvPr/>
        </p:nvSpPr>
        <p:spPr>
          <a:xfrm>
            <a:off x="3611880" y="2322576"/>
            <a:ext cx="1355141" cy="384048"/>
          </a:xfrm>
          <a:prstGeom prst="roundRect">
            <a:avLst>
              <a:gd name="adj" fmla="val 14286"/>
            </a:avLst>
          </a:prstGeom>
          <a:solidFill>
            <a:srgbClr val="15291F"/>
          </a:solidFill>
          <a:ln w="12700">
            <a:solidFill>
              <a:srgbClr val="24422F"/>
            </a:solidFill>
            <a:prstDash val="solid"/>
          </a:ln>
        </p:spPr>
      </p:sp>
      <p:sp>
        <p:nvSpPr>
          <p:cNvPr id="18" name="Text 16"/>
          <p:cNvSpPr/>
          <p:nvPr/>
        </p:nvSpPr>
        <p:spPr>
          <a:xfrm>
            <a:off x="3611880" y="2322576"/>
            <a:ext cx="1355141"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React + Vite</a:t>
            </a:r>
            <a:endParaRPr lang="en-US" sz="1000" dirty="0"/>
          </a:p>
        </p:txBody>
      </p:sp>
      <p:sp>
        <p:nvSpPr>
          <p:cNvPr id="19" name="Shape 17"/>
          <p:cNvSpPr/>
          <p:nvPr/>
        </p:nvSpPr>
        <p:spPr>
          <a:xfrm>
            <a:off x="5149901" y="2322576"/>
            <a:ext cx="1197864" cy="384048"/>
          </a:xfrm>
          <a:prstGeom prst="roundRect">
            <a:avLst>
              <a:gd name="adj" fmla="val 14286"/>
            </a:avLst>
          </a:prstGeom>
          <a:solidFill>
            <a:srgbClr val="15291F"/>
          </a:solidFill>
          <a:ln w="12700">
            <a:solidFill>
              <a:srgbClr val="24422F"/>
            </a:solidFill>
            <a:prstDash val="solid"/>
          </a:ln>
        </p:spPr>
      </p:sp>
      <p:sp>
        <p:nvSpPr>
          <p:cNvPr id="20" name="Text 18"/>
          <p:cNvSpPr/>
          <p:nvPr/>
        </p:nvSpPr>
        <p:spPr>
          <a:xfrm>
            <a:off x="5149901" y="2322576"/>
            <a:ext cx="1197864"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TypeScript</a:t>
            </a:r>
            <a:endParaRPr lang="en-US" sz="1000" dirty="0"/>
          </a:p>
        </p:txBody>
      </p:sp>
      <p:sp>
        <p:nvSpPr>
          <p:cNvPr id="21" name="Shape 19"/>
          <p:cNvSpPr/>
          <p:nvPr/>
        </p:nvSpPr>
        <p:spPr>
          <a:xfrm>
            <a:off x="6530645" y="2322576"/>
            <a:ext cx="1040587" cy="384048"/>
          </a:xfrm>
          <a:prstGeom prst="roundRect">
            <a:avLst>
              <a:gd name="adj" fmla="val 14286"/>
            </a:avLst>
          </a:prstGeom>
          <a:solidFill>
            <a:srgbClr val="15291F"/>
          </a:solidFill>
          <a:ln w="12700">
            <a:solidFill>
              <a:srgbClr val="24422F"/>
            </a:solidFill>
            <a:prstDash val="solid"/>
          </a:ln>
        </p:spPr>
      </p:sp>
      <p:sp>
        <p:nvSpPr>
          <p:cNvPr id="22" name="Text 20"/>
          <p:cNvSpPr/>
          <p:nvPr/>
        </p:nvSpPr>
        <p:spPr>
          <a:xfrm>
            <a:off x="6530645" y="2322576"/>
            <a:ext cx="1040587"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Tailwind</a:t>
            </a:r>
            <a:endParaRPr lang="en-US" sz="1000" dirty="0"/>
          </a:p>
        </p:txBody>
      </p:sp>
      <p:sp>
        <p:nvSpPr>
          <p:cNvPr id="23" name="Shape 21"/>
          <p:cNvSpPr/>
          <p:nvPr/>
        </p:nvSpPr>
        <p:spPr>
          <a:xfrm>
            <a:off x="7754112" y="2322576"/>
            <a:ext cx="1512418" cy="384048"/>
          </a:xfrm>
          <a:prstGeom prst="roundRect">
            <a:avLst>
              <a:gd name="adj" fmla="val 14286"/>
            </a:avLst>
          </a:prstGeom>
          <a:solidFill>
            <a:srgbClr val="15291F"/>
          </a:solidFill>
          <a:ln w="12700">
            <a:solidFill>
              <a:srgbClr val="24422F"/>
            </a:solidFill>
            <a:prstDash val="solid"/>
          </a:ln>
        </p:spPr>
      </p:sp>
      <p:sp>
        <p:nvSpPr>
          <p:cNvPr id="24" name="Text 22"/>
          <p:cNvSpPr/>
          <p:nvPr/>
        </p:nvSpPr>
        <p:spPr>
          <a:xfrm>
            <a:off x="7754112" y="2322576"/>
            <a:ext cx="1512418"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Offline Outbox</a:t>
            </a:r>
            <a:endParaRPr lang="en-US" sz="1000" dirty="0"/>
          </a:p>
        </p:txBody>
      </p:sp>
      <p:sp>
        <p:nvSpPr>
          <p:cNvPr id="25" name="Shape 23"/>
          <p:cNvSpPr/>
          <p:nvPr/>
        </p:nvSpPr>
        <p:spPr>
          <a:xfrm>
            <a:off x="548640" y="3154680"/>
            <a:ext cx="11091672" cy="1005840"/>
          </a:xfrm>
          <a:prstGeom prst="roundRect">
            <a:avLst>
              <a:gd name="adj" fmla="val 8182"/>
            </a:avLst>
          </a:prstGeom>
          <a:solidFill>
            <a:srgbClr val="11211A"/>
          </a:solidFill>
          <a:ln w="12700">
            <a:solidFill>
              <a:srgbClr val="24422F"/>
            </a:solidFill>
            <a:prstDash val="solid"/>
          </a:ln>
        </p:spPr>
      </p:sp>
      <p:sp>
        <p:nvSpPr>
          <p:cNvPr id="26" name="Shape 24"/>
          <p:cNvSpPr/>
          <p:nvPr/>
        </p:nvSpPr>
        <p:spPr>
          <a:xfrm>
            <a:off x="548640" y="3264408"/>
            <a:ext cx="64008" cy="786384"/>
          </a:xfrm>
          <a:prstGeom prst="rect">
            <a:avLst/>
          </a:prstGeom>
          <a:solidFill>
            <a:srgbClr val="22C3B8"/>
          </a:solidFill>
          <a:ln/>
        </p:spPr>
      </p:sp>
      <p:sp>
        <p:nvSpPr>
          <p:cNvPr id="27" name="Text 25"/>
          <p:cNvSpPr/>
          <p:nvPr/>
        </p:nvSpPr>
        <p:spPr>
          <a:xfrm>
            <a:off x="768096" y="3264408"/>
            <a:ext cx="2743200" cy="804672"/>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Adapter / AI
</a:t>
            </a:r>
            <a:pPr indent="0" marL="0">
              <a:lnSpc>
                <a:spcPct val="105000"/>
              </a:lnSpc>
              <a:buNone/>
            </a:pPr>
            <a:r>
              <a:rPr lang="en-US" sz="950" dirty="0">
                <a:solidFill>
                  <a:srgbClr val="6E857A"/>
                </a:solidFill>
                <a:latin typeface="Arial" pitchFamily="34" charset="0"/>
                <a:ea typeface="Arial" pitchFamily="34" charset="-122"/>
                <a:cs typeface="Arial" pitchFamily="34" charset="-120"/>
              </a:rPr>
              <a:t>stateless seam</a:t>
            </a:r>
            <a:endParaRPr lang="en-US" sz="1300" dirty="0"/>
          </a:p>
        </p:txBody>
      </p:sp>
      <p:sp>
        <p:nvSpPr>
          <p:cNvPr id="28" name="Shape 26"/>
          <p:cNvSpPr/>
          <p:nvPr/>
        </p:nvSpPr>
        <p:spPr>
          <a:xfrm>
            <a:off x="3611880" y="3465576"/>
            <a:ext cx="2849270" cy="384048"/>
          </a:xfrm>
          <a:prstGeom prst="roundRect">
            <a:avLst>
              <a:gd name="adj" fmla="val 14286"/>
            </a:avLst>
          </a:prstGeom>
          <a:solidFill>
            <a:srgbClr val="15291F"/>
          </a:solidFill>
          <a:ln w="12700">
            <a:solidFill>
              <a:srgbClr val="24422F"/>
            </a:solidFill>
            <a:prstDash val="solid"/>
          </a:ln>
        </p:spPr>
      </p:sp>
      <p:sp>
        <p:nvSpPr>
          <p:cNvPr id="29" name="Text 27"/>
          <p:cNvSpPr/>
          <p:nvPr/>
        </p:nvSpPr>
        <p:spPr>
          <a:xfrm>
            <a:off x="3611880" y="3465576"/>
            <a:ext cx="2849270"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ChainAdapter (multi-chain seam)</a:t>
            </a:r>
            <a:endParaRPr lang="en-US" sz="1000" dirty="0"/>
          </a:p>
        </p:txBody>
      </p:sp>
      <p:sp>
        <p:nvSpPr>
          <p:cNvPr id="30" name="Shape 28"/>
          <p:cNvSpPr/>
          <p:nvPr/>
        </p:nvSpPr>
        <p:spPr>
          <a:xfrm>
            <a:off x="6644030" y="3465576"/>
            <a:ext cx="1984248" cy="384048"/>
          </a:xfrm>
          <a:prstGeom prst="roundRect">
            <a:avLst>
              <a:gd name="adj" fmla="val 14286"/>
            </a:avLst>
          </a:prstGeom>
          <a:solidFill>
            <a:srgbClr val="15291F"/>
          </a:solidFill>
          <a:ln w="12700">
            <a:solidFill>
              <a:srgbClr val="24422F"/>
            </a:solidFill>
            <a:prstDash val="solid"/>
          </a:ln>
        </p:spPr>
      </p:sp>
      <p:sp>
        <p:nvSpPr>
          <p:cNvPr id="31" name="Text 29"/>
          <p:cNvSpPr/>
          <p:nvPr/>
        </p:nvSpPr>
        <p:spPr>
          <a:xfrm>
            <a:off x="6644030" y="3465576"/>
            <a:ext cx="1984248"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Gemini 2.5 Risk Lens</a:t>
            </a:r>
            <a:endParaRPr lang="en-US" sz="1000" dirty="0"/>
          </a:p>
        </p:txBody>
      </p:sp>
      <p:sp>
        <p:nvSpPr>
          <p:cNvPr id="32" name="Shape 30"/>
          <p:cNvSpPr/>
          <p:nvPr/>
        </p:nvSpPr>
        <p:spPr>
          <a:xfrm>
            <a:off x="8811158" y="3465576"/>
            <a:ext cx="1355141" cy="384048"/>
          </a:xfrm>
          <a:prstGeom prst="roundRect">
            <a:avLst>
              <a:gd name="adj" fmla="val 14286"/>
            </a:avLst>
          </a:prstGeom>
          <a:solidFill>
            <a:srgbClr val="15291F"/>
          </a:solidFill>
          <a:ln w="12700">
            <a:solidFill>
              <a:srgbClr val="24422F"/>
            </a:solidFill>
            <a:prstDash val="solid"/>
          </a:ln>
        </p:spPr>
      </p:sp>
      <p:sp>
        <p:nvSpPr>
          <p:cNvPr id="33" name="Text 31"/>
          <p:cNvSpPr/>
          <p:nvPr/>
        </p:nvSpPr>
        <p:spPr>
          <a:xfrm>
            <a:off x="8811158" y="3465576"/>
            <a:ext cx="1355141"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Supabase KYC</a:t>
            </a:r>
            <a:endParaRPr lang="en-US" sz="1000" dirty="0"/>
          </a:p>
        </p:txBody>
      </p:sp>
      <p:sp>
        <p:nvSpPr>
          <p:cNvPr id="34" name="Shape 32"/>
          <p:cNvSpPr/>
          <p:nvPr/>
        </p:nvSpPr>
        <p:spPr>
          <a:xfrm>
            <a:off x="548640" y="4297680"/>
            <a:ext cx="11091672" cy="1005840"/>
          </a:xfrm>
          <a:prstGeom prst="roundRect">
            <a:avLst>
              <a:gd name="adj" fmla="val 8182"/>
            </a:avLst>
          </a:prstGeom>
          <a:solidFill>
            <a:srgbClr val="11211A"/>
          </a:solidFill>
          <a:ln w="12700">
            <a:solidFill>
              <a:srgbClr val="24422F"/>
            </a:solidFill>
            <a:prstDash val="solid"/>
          </a:ln>
        </p:spPr>
      </p:sp>
      <p:sp>
        <p:nvSpPr>
          <p:cNvPr id="35" name="Shape 33"/>
          <p:cNvSpPr/>
          <p:nvPr/>
        </p:nvSpPr>
        <p:spPr>
          <a:xfrm>
            <a:off x="548640" y="4407408"/>
            <a:ext cx="64008" cy="786384"/>
          </a:xfrm>
          <a:prstGeom prst="rect">
            <a:avLst/>
          </a:prstGeom>
          <a:solidFill>
            <a:srgbClr val="2FBF87"/>
          </a:solidFill>
          <a:ln/>
        </p:spPr>
      </p:sp>
      <p:sp>
        <p:nvSpPr>
          <p:cNvPr id="36" name="Text 34"/>
          <p:cNvSpPr/>
          <p:nvPr/>
        </p:nvSpPr>
        <p:spPr>
          <a:xfrm>
            <a:off x="768096" y="4407408"/>
            <a:ext cx="2743200" cy="804672"/>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Stellar / Soroban core
</a:t>
            </a:r>
            <a:pPr indent="0" marL="0">
              <a:lnSpc>
                <a:spcPct val="105000"/>
              </a:lnSpc>
              <a:buNone/>
            </a:pPr>
            <a:r>
              <a:rPr lang="en-US" sz="950" dirty="0">
                <a:solidFill>
                  <a:srgbClr val="6E857A"/>
                </a:solidFill>
                <a:latin typeface="Arial" pitchFamily="34" charset="0"/>
                <a:ea typeface="Arial" pitchFamily="34" charset="-122"/>
                <a:cs typeface="Arial" pitchFamily="34" charset="-120"/>
              </a:rPr>
              <a:t>on-chain execution</a:t>
            </a:r>
            <a:endParaRPr lang="en-US" sz="1300" dirty="0"/>
          </a:p>
        </p:txBody>
      </p:sp>
      <p:sp>
        <p:nvSpPr>
          <p:cNvPr id="37" name="Shape 35"/>
          <p:cNvSpPr/>
          <p:nvPr/>
        </p:nvSpPr>
        <p:spPr>
          <a:xfrm>
            <a:off x="3611880" y="4608576"/>
            <a:ext cx="1826971" cy="384048"/>
          </a:xfrm>
          <a:prstGeom prst="roundRect">
            <a:avLst>
              <a:gd name="adj" fmla="val 14286"/>
            </a:avLst>
          </a:prstGeom>
          <a:solidFill>
            <a:srgbClr val="15291F"/>
          </a:solidFill>
          <a:ln w="12700">
            <a:solidFill>
              <a:srgbClr val="24422F"/>
            </a:solidFill>
            <a:prstDash val="solid"/>
          </a:ln>
        </p:spPr>
      </p:sp>
      <p:sp>
        <p:nvSpPr>
          <p:cNvPr id="38" name="Text 36"/>
          <p:cNvSpPr/>
          <p:nvPr/>
        </p:nvSpPr>
        <p:spPr>
          <a:xfrm>
            <a:off x="3611880" y="4608576"/>
            <a:ext cx="1826971"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Rust escrow (WASM)</a:t>
            </a:r>
            <a:endParaRPr lang="en-US" sz="1000" dirty="0"/>
          </a:p>
        </p:txBody>
      </p:sp>
      <p:sp>
        <p:nvSpPr>
          <p:cNvPr id="39" name="Shape 37"/>
          <p:cNvSpPr/>
          <p:nvPr/>
        </p:nvSpPr>
        <p:spPr>
          <a:xfrm>
            <a:off x="5621731" y="4608576"/>
            <a:ext cx="1748333" cy="384048"/>
          </a:xfrm>
          <a:prstGeom prst="roundRect">
            <a:avLst>
              <a:gd name="adj" fmla="val 14286"/>
            </a:avLst>
          </a:prstGeom>
          <a:solidFill>
            <a:srgbClr val="15291F"/>
          </a:solidFill>
          <a:ln w="12700">
            <a:solidFill>
              <a:srgbClr val="24422F"/>
            </a:solidFill>
            <a:prstDash val="solid"/>
          </a:ln>
        </p:spPr>
      </p:sp>
      <p:sp>
        <p:nvSpPr>
          <p:cNvPr id="40" name="Text 38"/>
          <p:cNvSpPr/>
          <p:nvPr/>
        </p:nvSpPr>
        <p:spPr>
          <a:xfrm>
            <a:off x="5621731" y="4608576"/>
            <a:ext cx="1748333"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DEX path payments</a:t>
            </a:r>
            <a:endParaRPr lang="en-US" sz="1000" dirty="0"/>
          </a:p>
        </p:txBody>
      </p:sp>
      <p:sp>
        <p:nvSpPr>
          <p:cNvPr id="41" name="Shape 39"/>
          <p:cNvSpPr/>
          <p:nvPr/>
        </p:nvSpPr>
        <p:spPr>
          <a:xfrm>
            <a:off x="7552944" y="4608576"/>
            <a:ext cx="1433779" cy="384048"/>
          </a:xfrm>
          <a:prstGeom prst="roundRect">
            <a:avLst>
              <a:gd name="adj" fmla="val 14286"/>
            </a:avLst>
          </a:prstGeom>
          <a:solidFill>
            <a:srgbClr val="15291F"/>
          </a:solidFill>
          <a:ln w="12700">
            <a:solidFill>
              <a:srgbClr val="24422F"/>
            </a:solidFill>
            <a:prstDash val="solid"/>
          </a:ln>
        </p:spPr>
      </p:sp>
      <p:sp>
        <p:nvSpPr>
          <p:cNvPr id="42" name="Text 40"/>
          <p:cNvSpPr/>
          <p:nvPr/>
        </p:nvSpPr>
        <p:spPr>
          <a:xfrm>
            <a:off x="7552944" y="4608576"/>
            <a:ext cx="1433779"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Horizon / RPC</a:t>
            </a:r>
            <a:endParaRPr lang="en-US" sz="1000" dirty="0"/>
          </a:p>
        </p:txBody>
      </p:sp>
      <p:sp>
        <p:nvSpPr>
          <p:cNvPr id="43" name="Shape 41"/>
          <p:cNvSpPr/>
          <p:nvPr/>
        </p:nvSpPr>
        <p:spPr>
          <a:xfrm>
            <a:off x="9169603" y="4608576"/>
            <a:ext cx="1276502" cy="384048"/>
          </a:xfrm>
          <a:prstGeom prst="roundRect">
            <a:avLst>
              <a:gd name="adj" fmla="val 14286"/>
            </a:avLst>
          </a:prstGeom>
          <a:solidFill>
            <a:srgbClr val="15291F"/>
          </a:solidFill>
          <a:ln w="12700">
            <a:solidFill>
              <a:srgbClr val="24422F"/>
            </a:solidFill>
            <a:prstDash val="solid"/>
          </a:ln>
        </p:spPr>
      </p:sp>
      <p:sp>
        <p:nvSpPr>
          <p:cNvPr id="44" name="Text 42"/>
          <p:cNvSpPr/>
          <p:nvPr/>
        </p:nvSpPr>
        <p:spPr>
          <a:xfrm>
            <a:off x="9169603" y="4608576"/>
            <a:ext cx="1276502" cy="384048"/>
          </a:xfrm>
          <a:prstGeom prst="rect">
            <a:avLst/>
          </a:prstGeom>
          <a:noFill/>
          <a:ln/>
        </p:spPr>
        <p:txBody>
          <a:bodyPr wrap="square" rtlCol="0" anchor="ctr"/>
          <a:lstStyle/>
          <a:p>
            <a:pPr algn="ctr" indent="0" marL="0">
              <a:buNone/>
            </a:pPr>
            <a:r>
              <a:rPr lang="en-US" sz="1000" dirty="0">
                <a:solidFill>
                  <a:srgbClr val="3DDC97"/>
                </a:solidFill>
                <a:latin typeface="Consolas" pitchFamily="34" charset="0"/>
                <a:ea typeface="Consolas" pitchFamily="34" charset="-122"/>
                <a:cs typeface="Consolas" pitchFamily="34" charset="-120"/>
              </a:rPr>
              <a:t>Wallets Kit</a:t>
            </a:r>
            <a:endParaRPr lang="en-US" sz="1000" dirty="0"/>
          </a:p>
        </p:txBody>
      </p:sp>
      <p:sp>
        <p:nvSpPr>
          <p:cNvPr id="45" name="Shape 43"/>
          <p:cNvSpPr/>
          <p:nvPr/>
        </p:nvSpPr>
        <p:spPr>
          <a:xfrm>
            <a:off x="548640" y="5486400"/>
            <a:ext cx="11091672" cy="566928"/>
          </a:xfrm>
          <a:prstGeom prst="roundRect">
            <a:avLst>
              <a:gd name="adj" fmla="val 14516"/>
            </a:avLst>
          </a:prstGeom>
          <a:solidFill>
            <a:srgbClr val="11211A"/>
          </a:solidFill>
          <a:ln w="12700">
            <a:solidFill>
              <a:srgbClr val="2FBF87"/>
            </a:solidFill>
            <a:prstDash val="solid"/>
          </a:ln>
        </p:spPr>
      </p:sp>
      <p:sp>
        <p:nvSpPr>
          <p:cNvPr id="46" name="Text 44"/>
          <p:cNvSpPr/>
          <p:nvPr/>
        </p:nvSpPr>
        <p:spPr>
          <a:xfrm>
            <a:off x="749808" y="5486400"/>
            <a:ext cx="10607040" cy="566928"/>
          </a:xfrm>
          <a:prstGeom prst="rect">
            <a:avLst/>
          </a:prstGeom>
          <a:noFill/>
          <a:ln/>
        </p:spPr>
        <p:txBody>
          <a:bodyPr wrap="square" rtlCol="0" anchor="ctr"/>
          <a:lstStyle/>
          <a:p>
            <a:pPr indent="0" marL="0">
              <a:buNone/>
            </a:pPr>
            <a:r>
              <a:rPr lang="en-US" sz="1150" b="1" dirty="0">
                <a:solidFill>
                  <a:srgbClr val="3DDC97"/>
                </a:solidFill>
                <a:latin typeface="Arial" pitchFamily="34" charset="0"/>
                <a:ea typeface="Arial" pitchFamily="34" charset="-122"/>
                <a:cs typeface="Arial" pitchFamily="34" charset="-120"/>
              </a:rPr>
              <a:t>Hardened &amp; non-custodial.  </a:t>
            </a:r>
            <a:pPr indent="0" marL="0">
              <a:buNone/>
            </a:pPr>
            <a:r>
              <a:rPr lang="en-US" sz="1150" dirty="0">
                <a:solidFill>
                  <a:srgbClr val="9DB2A8"/>
                </a:solidFill>
                <a:latin typeface="Arial" pitchFamily="34" charset="0"/>
                <a:ea typeface="Arial" pitchFamily="34" charset="-122"/>
                <a:cs typeface="Arial" pitchFamily="34" charset="-120"/>
              </a:rPr>
              <a:t>Contract security-reviewed, bugs fixed, verified on Stellar mainnet. Keys never stored. ~3-5s finality. soroban-sdk v26.</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0F"/>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BF87">
              <a:alpha val="10000"/>
            </a:srgbClr>
          </a:solidFill>
          <a:ln/>
        </p:spPr>
      </p:sp>
      <p:sp>
        <p:nvSpPr>
          <p:cNvPr id="3" name="Shape 1"/>
          <p:cNvSpPr/>
          <p:nvPr/>
        </p:nvSpPr>
        <p:spPr>
          <a:xfrm>
            <a:off x="-2377440" y="3840480"/>
            <a:ext cx="5486400" cy="5486400"/>
          </a:xfrm>
          <a:prstGeom prst="ellipse">
            <a:avLst/>
          </a:prstGeom>
          <a:solidFill>
            <a:srgbClr val="22C3B8">
              <a:alpha val="7000"/>
            </a:srgbClr>
          </a:solidFill>
          <a:ln/>
        </p:spPr>
      </p:sp>
      <p:sp>
        <p:nvSpPr>
          <p:cNvPr id="4" name="Shape 2"/>
          <p:cNvSpPr/>
          <p:nvPr/>
        </p:nvSpPr>
        <p:spPr>
          <a:xfrm>
            <a:off x="0" y="0"/>
            <a:ext cx="12191695" cy="91440"/>
          </a:xfrm>
          <a:prstGeom prst="rect">
            <a:avLst/>
          </a:prstGeom>
          <a:solidFill>
            <a:srgbClr val="2FBF87"/>
          </a:solidFill>
          <a:ln/>
        </p:spPr>
      </p:sp>
      <p:sp>
        <p:nvSpPr>
          <p:cNvPr id="5" name="Shape 3"/>
          <p:cNvSpPr/>
          <p:nvPr/>
        </p:nvSpPr>
        <p:spPr>
          <a:xfrm>
            <a:off x="548640" y="347472"/>
            <a:ext cx="329184" cy="329184"/>
          </a:xfrm>
          <a:prstGeom prst="roundRect">
            <a:avLst>
              <a:gd name="adj" fmla="val 19444"/>
            </a:avLst>
          </a:prstGeom>
          <a:solidFill>
            <a:srgbClr val="2FBF87"/>
          </a:solidFill>
          <a:ln/>
        </p:spPr>
      </p:sp>
      <p:sp>
        <p:nvSpPr>
          <p:cNvPr id="6" name="Text 4"/>
          <p:cNvSpPr/>
          <p:nvPr/>
        </p:nvSpPr>
        <p:spPr>
          <a:xfrm>
            <a:off x="548640" y="347472"/>
            <a:ext cx="329184" cy="329184"/>
          </a:xfrm>
          <a:prstGeom prst="rect">
            <a:avLst/>
          </a:prstGeom>
          <a:noFill/>
          <a:ln/>
        </p:spPr>
        <p:txBody>
          <a:bodyPr wrap="square" rtlCol="0" anchor="ctr"/>
          <a:lstStyle/>
          <a:p>
            <a:pPr algn="ctr" indent="0" marL="0">
              <a:buNone/>
            </a:pPr>
            <a:r>
              <a:rPr lang="en-US" sz="1600" b="1" dirty="0">
                <a:solidFill>
                  <a:srgbClr val="08110D"/>
                </a:solidFill>
                <a:latin typeface="Arial" pitchFamily="34" charset="0"/>
                <a:ea typeface="Arial" pitchFamily="34" charset="-122"/>
                <a:cs typeface="Arial" pitchFamily="34" charset="-120"/>
              </a:rPr>
              <a:t>P</a:t>
            </a:r>
            <a:endParaRPr lang="en-US" sz="1600" dirty="0"/>
          </a:p>
        </p:txBody>
      </p:sp>
      <p:sp>
        <p:nvSpPr>
          <p:cNvPr id="7" name="Text 5"/>
          <p:cNvSpPr/>
          <p:nvPr/>
        </p:nvSpPr>
        <p:spPr>
          <a:xfrm>
            <a:off x="960120" y="347472"/>
            <a:ext cx="2743200" cy="329184"/>
          </a:xfrm>
          <a:prstGeom prst="rect">
            <a:avLst/>
          </a:prstGeom>
          <a:noFill/>
          <a:ln/>
        </p:spPr>
        <p:txBody>
          <a:bodyPr wrap="square" rtlCol="0" anchor="ctr"/>
          <a:lstStyle/>
          <a:p>
            <a:pPr indent="0" marL="0">
              <a:buNone/>
            </a:pPr>
            <a:r>
              <a:rPr lang="en-US" sz="1500" b="1" spc="300" kern="0" dirty="0">
                <a:solidFill>
                  <a:srgbClr val="FFFFFF"/>
                </a:solidFill>
                <a:latin typeface="Arial" pitchFamily="34" charset="0"/>
                <a:ea typeface="Arial" pitchFamily="34" charset="-122"/>
                <a:cs typeface="Arial" pitchFamily="34" charset="-120"/>
              </a:rPr>
              <a:t>PACTA</a:t>
            </a:r>
            <a:endParaRPr lang="en-US" sz="1500" dirty="0"/>
          </a:p>
        </p:txBody>
      </p:sp>
      <p:sp>
        <p:nvSpPr>
          <p:cNvPr id="8" name="Text 6"/>
          <p:cNvSpPr/>
          <p:nvPr/>
        </p:nvSpPr>
        <p:spPr>
          <a:xfrm>
            <a:off x="10271455" y="347472"/>
            <a:ext cx="1371600" cy="329184"/>
          </a:xfrm>
          <a:prstGeom prst="rect">
            <a:avLst/>
          </a:prstGeom>
          <a:noFill/>
          <a:ln/>
        </p:spPr>
        <p:txBody>
          <a:bodyPr wrap="square" rtlCol="0" anchor="ctr"/>
          <a:lstStyle/>
          <a:p>
            <a:pPr algn="r" indent="0" marL="0">
              <a:buNone/>
            </a:pPr>
            <a:r>
              <a:rPr lang="en-US" sz="1100" dirty="0">
                <a:solidFill>
                  <a:srgbClr val="6E857A"/>
                </a:solidFill>
                <a:latin typeface="Consolas" pitchFamily="34" charset="0"/>
                <a:ea typeface="Consolas" pitchFamily="34" charset="-122"/>
                <a:cs typeface="Consolas" pitchFamily="34" charset="-120"/>
              </a:rPr>
              <a:t>05 / 05</a:t>
            </a:r>
            <a:endParaRPr lang="en-US" sz="1100" dirty="0"/>
          </a:p>
        </p:txBody>
      </p:sp>
      <p:sp>
        <p:nvSpPr>
          <p:cNvPr id="9" name="Shape 7"/>
          <p:cNvSpPr/>
          <p:nvPr/>
        </p:nvSpPr>
        <p:spPr>
          <a:xfrm>
            <a:off x="0" y="6803136"/>
            <a:ext cx="12191695" cy="54864"/>
          </a:xfrm>
          <a:prstGeom prst="rect">
            <a:avLst/>
          </a:prstGeom>
          <a:solidFill>
            <a:srgbClr val="24422F"/>
          </a:solidFill>
          <a:ln/>
        </p:spPr>
      </p:sp>
      <p:sp>
        <p:nvSpPr>
          <p:cNvPr id="10" name="Text 8"/>
          <p:cNvSpPr/>
          <p:nvPr/>
        </p:nvSpPr>
        <p:spPr>
          <a:xfrm>
            <a:off x="548640" y="6400800"/>
            <a:ext cx="8229600" cy="274320"/>
          </a:xfrm>
          <a:prstGeom prst="rect">
            <a:avLst/>
          </a:prstGeom>
          <a:noFill/>
          <a:ln/>
        </p:spPr>
        <p:txBody>
          <a:bodyPr wrap="square" rtlCol="0" anchor="ctr"/>
          <a:lstStyle/>
          <a:p>
            <a:pPr indent="0" marL="0">
              <a:buNone/>
            </a:pPr>
            <a:r>
              <a:rPr lang="en-US" sz="900" dirty="0">
                <a:solidFill>
                  <a:srgbClr val="6E857A"/>
                </a:solidFill>
                <a:latin typeface="Consolas" pitchFamily="34" charset="0"/>
                <a:ea typeface="Consolas" pitchFamily="34" charset="-122"/>
                <a:cs typeface="Consolas" pitchFamily="34" charset="-120"/>
              </a:rPr>
              <a:t>getpacta.app   ·   Trust, written in code.</a:t>
            </a:r>
            <a:endParaRPr lang="en-US" sz="900" dirty="0"/>
          </a:p>
        </p:txBody>
      </p:sp>
      <p:sp>
        <p:nvSpPr>
          <p:cNvPr id="11" name="Text 9"/>
          <p:cNvSpPr/>
          <p:nvPr/>
        </p:nvSpPr>
        <p:spPr>
          <a:xfrm>
            <a:off x="548640" y="914400"/>
            <a:ext cx="8229600" cy="274320"/>
          </a:xfrm>
          <a:prstGeom prst="rect">
            <a:avLst/>
          </a:prstGeom>
          <a:noFill/>
          <a:ln/>
        </p:spPr>
        <p:txBody>
          <a:bodyPr wrap="square" rtlCol="0" anchor="ctr"/>
          <a:lstStyle/>
          <a:p>
            <a:pPr indent="0" marL="0">
              <a:buNone/>
            </a:pPr>
            <a:r>
              <a:rPr lang="en-US" sz="1100" b="1" spc="300" kern="0" dirty="0">
                <a:solidFill>
                  <a:srgbClr val="2FBF87"/>
                </a:solidFill>
                <a:latin typeface="Consolas" pitchFamily="34" charset="0"/>
                <a:ea typeface="Consolas" pitchFamily="34" charset="-122"/>
                <a:cs typeface="Consolas" pitchFamily="34" charset="-120"/>
              </a:rPr>
              <a:t>05 · WORKING MODEL</a:t>
            </a:r>
            <a:endParaRPr lang="en-US" sz="1100" dirty="0"/>
          </a:p>
        </p:txBody>
      </p:sp>
      <p:sp>
        <p:nvSpPr>
          <p:cNvPr id="12" name="Text 10"/>
          <p:cNvSpPr/>
          <p:nvPr/>
        </p:nvSpPr>
        <p:spPr>
          <a:xfrm>
            <a:off x="548640" y="1234440"/>
            <a:ext cx="11064240" cy="594360"/>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Jump Into the Live Demo</a:t>
            </a:r>
            <a:endParaRPr lang="en-US" sz="2700" dirty="0"/>
          </a:p>
        </p:txBody>
      </p:sp>
      <p:sp>
        <p:nvSpPr>
          <p:cNvPr id="13" name="Shape 11"/>
          <p:cNvSpPr/>
          <p:nvPr/>
        </p:nvSpPr>
        <p:spPr>
          <a:xfrm>
            <a:off x="576072" y="1837944"/>
            <a:ext cx="914400" cy="45720"/>
          </a:xfrm>
          <a:prstGeom prst="rect">
            <a:avLst/>
          </a:prstGeom>
          <a:solidFill>
            <a:srgbClr val="2FBF87"/>
          </a:solidFill>
          <a:ln/>
        </p:spPr>
      </p:sp>
      <p:sp>
        <p:nvSpPr>
          <p:cNvPr id="14" name="Shape 12"/>
          <p:cNvSpPr/>
          <p:nvPr/>
        </p:nvSpPr>
        <p:spPr>
          <a:xfrm>
            <a:off x="548640" y="2011680"/>
            <a:ext cx="7223760" cy="4206240"/>
          </a:xfrm>
          <a:prstGeom prst="roundRect">
            <a:avLst>
              <a:gd name="adj" fmla="val 1957"/>
            </a:avLst>
          </a:prstGeom>
          <a:solidFill>
            <a:srgbClr val="11211A"/>
          </a:solidFill>
          <a:ln w="12700">
            <a:solidFill>
              <a:srgbClr val="24422F"/>
            </a:solidFill>
            <a:prstDash val="solid"/>
          </a:ln>
        </p:spPr>
      </p:sp>
      <p:sp>
        <p:nvSpPr>
          <p:cNvPr id="15" name="Shape 13"/>
          <p:cNvSpPr/>
          <p:nvPr/>
        </p:nvSpPr>
        <p:spPr>
          <a:xfrm>
            <a:off x="548640" y="2139696"/>
            <a:ext cx="64008" cy="3950208"/>
          </a:xfrm>
          <a:prstGeom prst="rect">
            <a:avLst/>
          </a:prstGeom>
          <a:solidFill>
            <a:srgbClr val="2FBF87"/>
          </a:solidFill>
          <a:ln/>
        </p:spPr>
      </p:sp>
      <p:sp>
        <p:nvSpPr>
          <p:cNvPr id="16" name="Text 14"/>
          <p:cNvSpPr/>
          <p:nvPr/>
        </p:nvSpPr>
        <p:spPr>
          <a:xfrm>
            <a:off x="786384" y="2194560"/>
            <a:ext cx="4572000" cy="292608"/>
          </a:xfrm>
          <a:prstGeom prst="rect">
            <a:avLst/>
          </a:prstGeom>
          <a:noFill/>
          <a:ln/>
        </p:spPr>
        <p:txBody>
          <a:bodyPr wrap="square" rtlCol="0" anchor="ctr"/>
          <a:lstStyle/>
          <a:p>
            <a:pPr indent="0" marL="0">
              <a:buNone/>
            </a:pPr>
            <a:r>
              <a:rPr lang="en-US" sz="1000" dirty="0">
                <a:solidFill>
                  <a:srgbClr val="6E857A"/>
                </a:solidFill>
                <a:latin typeface="Consolas" pitchFamily="34" charset="0"/>
                <a:ea typeface="Consolas" pitchFamily="34" charset="-122"/>
                <a:cs typeface="Consolas" pitchFamily="34" charset="-120"/>
              </a:rPr>
              <a:t>LIVE ON STELLAR MAINNET</a:t>
            </a:r>
            <a:endParaRPr lang="en-US" sz="1000" dirty="0"/>
          </a:p>
        </p:txBody>
      </p:sp>
      <p:sp>
        <p:nvSpPr>
          <p:cNvPr id="17" name="Text 15"/>
          <p:cNvSpPr/>
          <p:nvPr/>
        </p:nvSpPr>
        <p:spPr>
          <a:xfrm>
            <a:off x="786384" y="2505456"/>
            <a:ext cx="6766560" cy="822960"/>
          </a:xfrm>
          <a:prstGeom prst="rect">
            <a:avLst/>
          </a:prstGeom>
          <a:noFill/>
          <a:ln/>
        </p:spPr>
        <p:txBody>
          <a:bodyPr wrap="square" rtlCol="0" anchor="ctr"/>
          <a:lstStyle/>
          <a:p>
            <a:pPr indent="0" marL="0">
              <a:buNone/>
            </a:pPr>
            <a:r>
              <a:rPr lang="en-US" sz="4200" b="1" dirty="0">
                <a:solidFill>
                  <a:srgbClr val="3DDC97"/>
                </a:solidFill>
                <a:latin typeface="Arial" pitchFamily="34" charset="0"/>
                <a:ea typeface="Arial" pitchFamily="34" charset="-122"/>
                <a:cs typeface="Arial" pitchFamily="34" charset="-120"/>
              </a:rPr>
              <a:t>getpacta.app</a:t>
            </a:r>
            <a:endParaRPr lang="en-US" sz="4200" dirty="0"/>
          </a:p>
        </p:txBody>
      </p:sp>
      <p:sp>
        <p:nvSpPr>
          <p:cNvPr id="18" name="Shape 16"/>
          <p:cNvSpPr/>
          <p:nvPr/>
        </p:nvSpPr>
        <p:spPr>
          <a:xfrm>
            <a:off x="786384" y="3401568"/>
            <a:ext cx="6675120" cy="512064"/>
          </a:xfrm>
          <a:prstGeom prst="roundRect">
            <a:avLst>
              <a:gd name="adj" fmla="val 16071"/>
            </a:avLst>
          </a:prstGeom>
          <a:solidFill>
            <a:srgbClr val="08110D"/>
          </a:solidFill>
          <a:ln w="12700">
            <a:solidFill>
              <a:srgbClr val="24422F"/>
            </a:solidFill>
            <a:prstDash val="solid"/>
          </a:ln>
        </p:spPr>
      </p:sp>
      <p:sp>
        <p:nvSpPr>
          <p:cNvPr id="19" name="Text 17"/>
          <p:cNvSpPr/>
          <p:nvPr/>
        </p:nvSpPr>
        <p:spPr>
          <a:xfrm>
            <a:off x="914400" y="3401568"/>
            <a:ext cx="6400800" cy="512064"/>
          </a:xfrm>
          <a:prstGeom prst="rect">
            <a:avLst/>
          </a:prstGeom>
          <a:noFill/>
          <a:ln/>
        </p:spPr>
        <p:txBody>
          <a:bodyPr wrap="square" rtlCol="0" anchor="ctr"/>
          <a:lstStyle/>
          <a:p>
            <a:pPr indent="0" marL="0">
              <a:buNone/>
            </a:pPr>
            <a:r>
              <a:rPr lang="en-US" sz="950" dirty="0">
                <a:solidFill>
                  <a:srgbClr val="3DDC97"/>
                </a:solidFill>
                <a:latin typeface="Consolas" pitchFamily="34" charset="0"/>
                <a:ea typeface="Consolas" pitchFamily="34" charset="-122"/>
                <a:cs typeface="Consolas" pitchFamily="34" charset="-120"/>
              </a:rPr>
              <a:t>mainnet: CBPA2JBUH5ASTCSP63QPSHGI6HD73YJGQS3SMJHLVZS2PG5GRSOTLEON</a:t>
            </a:r>
            <a:endParaRPr lang="en-US" sz="950" dirty="0"/>
          </a:p>
        </p:txBody>
      </p:sp>
      <p:sp>
        <p:nvSpPr>
          <p:cNvPr id="20" name="Text 18"/>
          <p:cNvSpPr/>
          <p:nvPr/>
        </p:nvSpPr>
        <p:spPr>
          <a:xfrm>
            <a:off x="786384" y="4069080"/>
            <a:ext cx="6400800" cy="27432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 the demo:</a:t>
            </a:r>
            <a:endParaRPr lang="en-US" sz="1200" dirty="0"/>
          </a:p>
        </p:txBody>
      </p:sp>
      <p:sp>
        <p:nvSpPr>
          <p:cNvPr id="21" name="Text 19"/>
          <p:cNvSpPr/>
          <p:nvPr/>
        </p:nvSpPr>
        <p:spPr>
          <a:xfrm>
            <a:off x="786384" y="4370832"/>
            <a:ext cx="6675120" cy="1371600"/>
          </a:xfrm>
          <a:prstGeom prst="rect">
            <a:avLst/>
          </a:prstGeom>
          <a:noFill/>
          <a:ln/>
        </p:spPr>
        <p:txBody>
          <a:bodyPr wrap="square" rtlCol="0" anchor="t"/>
          <a:lstStyle/>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Connect a Stellar wallet, no signup.</a:t>
            </a:r>
            <a:endParaRPr lang="en-US" sz="1150" dirty="0"/>
          </a:p>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Send Protected, creating a Pact.</a:t>
            </a:r>
            <a:endParaRPr lang="en-US" sz="1150" dirty="0"/>
          </a:p>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Recipient posts bond, sender deposits.</a:t>
            </a:r>
            <a:endParaRPr lang="en-US" sz="1150" dirty="0"/>
          </a:p>
          <a:p>
            <a:pPr marL="190500" indent="-190500">
              <a:spcAft>
                <a:spcPts val="900"/>
              </a:spcAft>
              <a:buSzPct val="100000"/>
              <a:buChar char="•"/>
            </a:pPr>
            <a:r>
              <a:rPr lang="en-US" sz="1150" dirty="0">
                <a:solidFill>
                  <a:srgbClr val="9DB2A8"/>
                </a:solidFill>
                <a:latin typeface="Arial" pitchFamily="34" charset="0"/>
                <a:ea typeface="Arial" pitchFamily="34" charset="-122"/>
                <a:cs typeface="Arial" pitchFamily="34" charset="-120"/>
              </a:rPr>
              <a:t>Release the final milestone, bond auto-returns, Pact completes.</a:t>
            </a:r>
            <a:endParaRPr lang="en-US" sz="1150" dirty="0"/>
          </a:p>
        </p:txBody>
      </p:sp>
      <p:sp>
        <p:nvSpPr>
          <p:cNvPr id="22" name="Text 20"/>
          <p:cNvSpPr/>
          <p:nvPr/>
        </p:nvSpPr>
        <p:spPr>
          <a:xfrm>
            <a:off x="786384" y="5806440"/>
            <a:ext cx="6766560" cy="32004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Built by Zarrah Exekiel Valles &amp; Jecyn Vallirie Turbanos</a:t>
            </a:r>
            <a:pPr indent="0" marL="0">
              <a:buNone/>
            </a:pPr>
            <a:r>
              <a:rPr lang="en-US" sz="1150" dirty="0">
                <a:solidFill>
                  <a:srgbClr val="9DB2A8"/>
                </a:solidFill>
                <a:latin typeface="Arial" pitchFamily="34" charset="0"/>
                <a:ea typeface="Arial" pitchFamily="34" charset="-122"/>
                <a:cs typeface="Arial" pitchFamily="34" charset="-120"/>
              </a:rPr>
              <a:t>   ·   Philippines</a:t>
            </a:r>
            <a:endParaRPr lang="en-US" sz="1150" dirty="0"/>
          </a:p>
        </p:txBody>
      </p:sp>
      <p:sp>
        <p:nvSpPr>
          <p:cNvPr id="23" name="Shape 21"/>
          <p:cNvSpPr/>
          <p:nvPr/>
        </p:nvSpPr>
        <p:spPr>
          <a:xfrm>
            <a:off x="8074152" y="2011680"/>
            <a:ext cx="3566160" cy="4206240"/>
          </a:xfrm>
          <a:prstGeom prst="roundRect">
            <a:avLst>
              <a:gd name="adj" fmla="val 2308"/>
            </a:avLst>
          </a:prstGeom>
          <a:solidFill>
            <a:srgbClr val="11211A"/>
          </a:solidFill>
          <a:ln w="12700">
            <a:solidFill>
              <a:srgbClr val="2FBF87"/>
            </a:solidFill>
            <a:prstDash val="solid"/>
          </a:ln>
        </p:spPr>
      </p:sp>
      <p:sp>
        <p:nvSpPr>
          <p:cNvPr id="24" name="Text 22"/>
          <p:cNvSpPr/>
          <p:nvPr/>
        </p:nvSpPr>
        <p:spPr>
          <a:xfrm>
            <a:off x="8074152" y="2331720"/>
            <a:ext cx="3566160" cy="365760"/>
          </a:xfrm>
          <a:prstGeom prst="rect">
            <a:avLst/>
          </a:prstGeom>
          <a:noFill/>
          <a:ln/>
        </p:spPr>
        <p:txBody>
          <a:bodyPr wrap="square" rtlCol="0" anchor="ctr"/>
          <a:lstStyle/>
          <a:p>
            <a:pPr algn="ctr" indent="0" marL="0">
              <a:buNone/>
            </a:pPr>
            <a:r>
              <a:rPr lang="en-US" sz="1200" dirty="0">
                <a:solidFill>
                  <a:srgbClr val="3DDC97"/>
                </a:solidFill>
                <a:latin typeface="Consolas" pitchFamily="34" charset="0"/>
                <a:ea typeface="Consolas" pitchFamily="34" charset="-122"/>
                <a:cs typeface="Consolas" pitchFamily="34" charset="-120"/>
              </a:rPr>
              <a:t>SCAN TO TRY IT NOW</a:t>
            </a:r>
            <a:endParaRPr lang="en-US" sz="1200" dirty="0"/>
          </a:p>
        </p:txBody>
      </p:sp>
      <p:sp>
        <p:nvSpPr>
          <p:cNvPr id="25" name="Shape 23"/>
          <p:cNvSpPr/>
          <p:nvPr/>
        </p:nvSpPr>
        <p:spPr>
          <a:xfrm>
            <a:off x="9015984" y="2798064"/>
            <a:ext cx="1682496" cy="1682496"/>
          </a:xfrm>
          <a:prstGeom prst="roundRect">
            <a:avLst>
              <a:gd name="adj" fmla="val 3261"/>
            </a:avLst>
          </a:prstGeom>
          <a:solidFill>
            <a:srgbClr val="FFFFFF"/>
          </a:solidFill>
          <a:ln/>
        </p:spPr>
      </p:sp>
      <p:pic>
        <p:nvPicPr>
          <p:cNvPr id="26" name="Image 0" descr="preencoded.png">    </p:cNvPr>
          <p:cNvPicPr>
            <a:picLocks noChangeAspect="1"/>
          </p:cNvPicPr>
          <p:nvPr/>
        </p:nvPicPr>
        <p:blipFill>
          <a:blip r:embed="rId1"/>
          <a:stretch>
            <a:fillRect/>
          </a:stretch>
        </p:blipFill>
        <p:spPr>
          <a:xfrm>
            <a:off x="9089136" y="2871216"/>
            <a:ext cx="1536192" cy="1536192"/>
          </a:xfrm>
          <a:prstGeom prst="rect">
            <a:avLst/>
          </a:prstGeom>
        </p:spPr>
      </p:pic>
      <p:sp>
        <p:nvSpPr>
          <p:cNvPr id="27" name="Text 24"/>
          <p:cNvSpPr/>
          <p:nvPr/>
        </p:nvSpPr>
        <p:spPr>
          <a:xfrm>
            <a:off x="8074152" y="4709160"/>
            <a:ext cx="35661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getpacta.app</a:t>
            </a:r>
            <a:endParaRPr lang="en-US" sz="1400" dirty="0"/>
          </a:p>
        </p:txBody>
      </p:sp>
      <p:sp>
        <p:nvSpPr>
          <p:cNvPr id="28" name="Text 25"/>
          <p:cNvSpPr/>
          <p:nvPr/>
        </p:nvSpPr>
        <p:spPr>
          <a:xfrm>
            <a:off x="8074152" y="5120640"/>
            <a:ext cx="3566160" cy="365760"/>
          </a:xfrm>
          <a:prstGeom prst="rect">
            <a:avLst/>
          </a:prstGeom>
          <a:noFill/>
          <a:ln/>
        </p:spPr>
        <p:txBody>
          <a:bodyPr wrap="square" rtlCol="0" anchor="ctr"/>
          <a:lstStyle/>
          <a:p>
            <a:pPr algn="ctr" indent="0" marL="0">
              <a:buNone/>
            </a:pPr>
            <a:r>
              <a:rPr lang="en-US" sz="1200" i="1" dirty="0">
                <a:solidFill>
                  <a:srgbClr val="9DB2A8"/>
                </a:solidFill>
                <a:latin typeface="Arial" pitchFamily="34" charset="0"/>
                <a:ea typeface="Arial" pitchFamily="34" charset="-122"/>
                <a:cs typeface="Arial" pitchFamily="34" charset="-120"/>
              </a:rPr>
              <a:t>Trust, written in code.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PACTA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PACTA Pitch Deck</dc:title>
  <dc:subject>PptxGenJS Presentation</dc:subject>
  <dc:creator>PACTA</dc:creator>
  <cp:lastModifiedBy>PACTA</cp:lastModifiedBy>
  <cp:revision>1</cp:revision>
  <dcterms:created xsi:type="dcterms:W3CDTF">2026-07-31T05:03:46Z</dcterms:created>
  <dcterms:modified xsi:type="dcterms:W3CDTF">2026-07-31T05:03:46Z</dcterms:modified>
</cp:coreProperties>
</file>